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FgLh1ulzLixPd4TkD6ejwiSXW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showMasterSp="0">
  <p:cSld name="1_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3"/>
          <p:cNvSpPr/>
          <p:nvPr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3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Google Shape;21;p13"/>
          <p:cNvSpPr txBox="1"/>
          <p:nvPr>
            <p:ph type="ctrTitle"/>
          </p:nvPr>
        </p:nvSpPr>
        <p:spPr>
          <a:xfrm>
            <a:off x="6629400" y="758952"/>
            <a:ext cx="4526280" cy="32275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b="1" sz="6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3"/>
          <p:cNvSpPr/>
          <p:nvPr/>
        </p:nvSpPr>
        <p:spPr>
          <a:xfrm>
            <a:off x="6311900" y="0"/>
            <a:ext cx="15392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15"/>
          <p:cNvSpPr txBox="1"/>
          <p:nvPr>
            <p:ph idx="1" type="subTitle"/>
          </p:nvPr>
        </p:nvSpPr>
        <p:spPr>
          <a:xfrm>
            <a:off x="1212850" y="4508500"/>
            <a:ext cx="511810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" name="Google Shape;36;p15"/>
          <p:cNvSpPr txBox="1"/>
          <p:nvPr>
            <p:ph type="ctrTitle"/>
          </p:nvPr>
        </p:nvSpPr>
        <p:spPr>
          <a:xfrm>
            <a:off x="1212850" y="2057400"/>
            <a:ext cx="5118100" cy="19290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/>
          <p:nvPr/>
        </p:nvSpPr>
        <p:spPr>
          <a:xfrm>
            <a:off x="7972121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6"/>
          <p:cNvSpPr/>
          <p:nvPr>
            <p:ph idx="2" type="pic"/>
          </p:nvPr>
        </p:nvSpPr>
        <p:spPr>
          <a:xfrm>
            <a:off x="0" y="0"/>
            <a:ext cx="6311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6"/>
          <p:cNvSpPr/>
          <p:nvPr/>
        </p:nvSpPr>
        <p:spPr>
          <a:xfrm>
            <a:off x="2451099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6"/>
          <p:cNvSpPr txBox="1"/>
          <p:nvPr>
            <p:ph type="title"/>
          </p:nvPr>
        </p:nvSpPr>
        <p:spPr>
          <a:xfrm>
            <a:off x="26415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" type="body"/>
          </p:nvPr>
        </p:nvSpPr>
        <p:spPr>
          <a:xfrm>
            <a:off x="26416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16"/>
          <p:cNvSpPr/>
          <p:nvPr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>
  <p:cSld name="1_Section Head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7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7"/>
          <p:cNvSpPr/>
          <p:nvPr/>
        </p:nvSpPr>
        <p:spPr>
          <a:xfrm>
            <a:off x="1735138" y="3568700"/>
            <a:ext cx="8721725" cy="2308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7"/>
          <p:cNvSpPr txBox="1"/>
          <p:nvPr>
            <p:ph type="title"/>
          </p:nvPr>
        </p:nvSpPr>
        <p:spPr>
          <a:xfrm>
            <a:off x="1930399" y="3746500"/>
            <a:ext cx="833120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b="1" sz="4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" type="body"/>
          </p:nvPr>
        </p:nvSpPr>
        <p:spPr>
          <a:xfrm>
            <a:off x="1930400" y="5219700"/>
            <a:ext cx="8331201" cy="5867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17"/>
          <p:cNvSpPr/>
          <p:nvPr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19"/>
          <p:cNvSpPr txBox="1"/>
          <p:nvPr>
            <p:ph idx="2" type="body"/>
          </p:nvPr>
        </p:nvSpPr>
        <p:spPr>
          <a:xfrm>
            <a:off x="1186731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1" sz="24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19"/>
          <p:cNvSpPr txBox="1"/>
          <p:nvPr>
            <p:ph idx="4" type="body"/>
          </p:nvPr>
        </p:nvSpPr>
        <p:spPr>
          <a:xfrm>
            <a:off x="6605395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2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 txBox="1"/>
          <p:nvPr>
            <p:ph type="title"/>
          </p:nvPr>
        </p:nvSpPr>
        <p:spPr>
          <a:xfrm>
            <a:off x="1092200" y="786383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5458984" y="812800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2" type="body"/>
          </p:nvPr>
        </p:nvSpPr>
        <p:spPr>
          <a:xfrm>
            <a:off x="1092200" y="3043050"/>
            <a:ext cx="3068832" cy="2638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22"/>
          <p:cNvSpPr/>
          <p:nvPr/>
        </p:nvSpPr>
        <p:spPr>
          <a:xfrm>
            <a:off x="0" y="139700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2"/>
          <p:cNvSpPr/>
          <p:nvPr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0" name="Google Shape;90;p22"/>
          <p:cNvCxnSpPr/>
          <p:nvPr/>
        </p:nvCxnSpPr>
        <p:spPr>
          <a:xfrm rot="10800000">
            <a:off x="1092200" y="6446838"/>
            <a:ext cx="1643438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22"/>
          <p:cNvCxnSpPr/>
          <p:nvPr/>
        </p:nvCxnSpPr>
        <p:spPr>
          <a:xfrm rot="10800000">
            <a:off x="8420100" y="6429376"/>
            <a:ext cx="1000462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2"/>
          <p:cNvCxnSpPr/>
          <p:nvPr/>
        </p:nvCxnSpPr>
        <p:spPr>
          <a:xfrm rot="10800000">
            <a:off x="10765675" y="6446838"/>
            <a:ext cx="407258" cy="635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3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 showMasterSp="0">
  <p:cSld name="1_Content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4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3" name="Google Shape;103;p24"/>
          <p:cNvSpPr/>
          <p:nvPr/>
        </p:nvSpPr>
        <p:spPr>
          <a:xfrm>
            <a:off x="0" y="2003424"/>
            <a:ext cx="1036320" cy="18573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4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24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4"/>
          <p:cNvSpPr/>
          <p:nvPr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rgbClr val="2730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4"/>
          <p:cNvSpPr txBox="1"/>
          <p:nvPr>
            <p:ph type="title"/>
          </p:nvPr>
        </p:nvSpPr>
        <p:spPr>
          <a:xfrm>
            <a:off x="1092200" y="1885125"/>
            <a:ext cx="3314700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4"/>
          <p:cNvSpPr/>
          <p:nvPr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rgbClr val="CFD3E6">
              <a:alpha val="2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 showMasterSp="0">
  <p:cSld name="2_Content with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5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5"/>
          <p:cNvSpPr txBox="1"/>
          <p:nvPr>
            <p:ph idx="1" type="body"/>
          </p:nvPr>
        </p:nvSpPr>
        <p:spPr>
          <a:xfrm>
            <a:off x="5458984" y="497808"/>
            <a:ext cx="5713841" cy="48686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5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5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ntent with Caption" showMasterSp="0">
  <p:cSld name="6_Content with Ca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6"/>
          <p:cNvSpPr txBox="1"/>
          <p:nvPr>
            <p:ph type="title"/>
          </p:nvPr>
        </p:nvSpPr>
        <p:spPr>
          <a:xfrm>
            <a:off x="4984722" y="54835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 i="0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" type="body"/>
          </p:nvPr>
        </p:nvSpPr>
        <p:spPr>
          <a:xfrm>
            <a:off x="5100833" y="1611313"/>
            <a:ext cx="6072099" cy="375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23" name="Google Shape;123;p26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6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6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26"/>
          <p:cNvSpPr/>
          <p:nvPr>
            <p:ph idx="2" type="pic"/>
          </p:nvPr>
        </p:nvSpPr>
        <p:spPr>
          <a:xfrm>
            <a:off x="0" y="0"/>
            <a:ext cx="4654296" cy="58642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ontent with Caption" showMasterSp="0">
  <p:cSld name="7_Content with Ca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/>
          <p:nvPr>
            <p:ph idx="2" type="pic"/>
          </p:nvPr>
        </p:nvSpPr>
        <p:spPr>
          <a:xfrm>
            <a:off x="0" y="0"/>
            <a:ext cx="12192000" cy="354148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7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7"/>
          <p:cNvSpPr txBox="1"/>
          <p:nvPr>
            <p:ph type="title"/>
          </p:nvPr>
        </p:nvSpPr>
        <p:spPr>
          <a:xfrm>
            <a:off x="3068577" y="880375"/>
            <a:ext cx="6054846" cy="634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Calibri"/>
              <a:buNone/>
              <a:defRPr b="1" i="0" sz="36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7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7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27"/>
          <p:cNvSpPr/>
          <p:nvPr/>
        </p:nvSpPr>
        <p:spPr>
          <a:xfrm>
            <a:off x="5577840" y="0"/>
            <a:ext cx="103632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ntent with Caption" showMasterSp="0">
  <p:cSld name="3_Content with Captio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8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8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8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6473373" y="943430"/>
            <a:ext cx="4699452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28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/>
          <p:nvPr/>
        </p:nvSpPr>
        <p:spPr>
          <a:xfrm>
            <a:off x="74485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9"/>
          <p:cNvSpPr/>
          <p:nvPr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9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9"/>
          <p:cNvSpPr txBox="1"/>
          <p:nvPr>
            <p:ph type="title"/>
          </p:nvPr>
        </p:nvSpPr>
        <p:spPr>
          <a:xfrm>
            <a:off x="1092200" y="1885125"/>
            <a:ext cx="3068833" cy="209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i="0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1" type="body"/>
          </p:nvPr>
        </p:nvSpPr>
        <p:spPr>
          <a:xfrm>
            <a:off x="6518529" y="943430"/>
            <a:ext cx="4654296" cy="3977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9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9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9"/>
          <p:cNvSpPr/>
          <p:nvPr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0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58" name="Google Shape;158;p30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  <a:defRPr b="1" sz="44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60" name="Google Shape;160;p30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30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0"/>
          <p:cNvSpPr/>
          <p:nvPr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 rot="5400000">
            <a:off x="3548743" y="-1715589"/>
            <a:ext cx="5024845" cy="12122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31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 rot="5400000">
            <a:off x="7683554" y="2387546"/>
            <a:ext cx="4530725" cy="2448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" type="body"/>
          </p:nvPr>
        </p:nvSpPr>
        <p:spPr>
          <a:xfrm rot="5400000">
            <a:off x="2566989" y="-128588"/>
            <a:ext cx="4530723" cy="7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0" type="dt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4" name="Google Shape;174;p32"/>
          <p:cNvSpPr txBox="1"/>
          <p:nvPr>
            <p:ph idx="11" type="ftr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32"/>
          <p:cNvSpPr/>
          <p:nvPr/>
        </p:nvSpPr>
        <p:spPr>
          <a:xfrm rot="-5400000">
            <a:off x="8871481" y="-146580"/>
            <a:ext cx="1036320" cy="1329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4667250" y="0"/>
            <a:ext cx="2857500" cy="6858000"/>
          </a:xfrm>
          <a:prstGeom prst="parallelogram">
            <a:avLst>
              <a:gd fmla="val 0" name="adj"/>
            </a:avLst>
          </a:prstGeom>
          <a:solidFill>
            <a:srgbClr val="F2F2F2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1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3F3F3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" name="Google Shape;13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503" y="-95794"/>
            <a:ext cx="12087497" cy="18331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87">
          <p15:clr>
            <a:srgbClr val="F26B43"/>
          </p15:clr>
        </p15:guide>
        <p15:guide id="2" pos="688">
          <p15:clr>
            <a:srgbClr val="F26B43"/>
          </p15:clr>
        </p15:guide>
        <p15:guide id="3" pos="7038">
          <p15:clr>
            <a:srgbClr val="F26B43"/>
          </p15:clr>
        </p15:guide>
        <p15:guide id="4" orient="horz" pos="3702">
          <p15:clr>
            <a:srgbClr val="F26B43"/>
          </p15:clr>
        </p15:guide>
        <p15:guide id="5" orient="horz" pos="40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"/>
          <p:cNvSpPr txBox="1"/>
          <p:nvPr>
            <p:ph type="ctrTitle"/>
          </p:nvPr>
        </p:nvSpPr>
        <p:spPr>
          <a:xfrm>
            <a:off x="6629399" y="696686"/>
            <a:ext cx="5144589" cy="32897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FF0000"/>
                </a:solidFill>
              </a:rPr>
              <a:t>Coding and Decoding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83" name="Google Shape;183;p1"/>
          <p:cNvSpPr txBox="1"/>
          <p:nvPr>
            <p:ph idx="1" type="subTitle"/>
          </p:nvPr>
        </p:nvSpPr>
        <p:spPr>
          <a:xfrm>
            <a:off x="6632171" y="4508500"/>
            <a:ext cx="4526280" cy="127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VIGNESH M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9" name="Google Shape;189;p2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1) If in a certain language KINDLE is coded as ELDNIK, how is EXOTIC coded in that code?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a) EXOTIC b) EXOTLC c) CITOXE  d) COXITE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2) In a certain code BREAK is written as ASDBJ.How is SOLAR written in that code?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a) RPKBS b) TPMBS c) RPKBQ  d) TPKBQ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3) In a certain code ’GONE’ is written as ’NOEGG’ and ’LOAD’ is written as ’AODLL’. How is ’SORT’ written in that code?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a) ROSTT b) ROTSS c) RSTOO  d) OTRSS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4.If KGLFT is written as PTOUG, the MERSA is written as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A) NVIHZ     B) VIHNZ     C) NVLHZ       D) NVIHA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5) </a:t>
            </a:r>
            <a:r>
              <a:rPr lang="en-US"/>
              <a:t>If "FRIEND"is coded as" HUMJTK", how can "CANDLE" be written in that code?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/>
              <a:t>A) EDRIRL   B) DCQHQK      C) ESJFME     D) FYOBOC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5) In a certain code Ianguage BANKER is written as 'LFSCBO’. How will CONFER be written in that code?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GFSDPO b) FGSDOP c)GFSEPO d) FHSDPO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6) in a certain code MEADOW is written as BFNVNC .How is CORNER written in that code?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DPSQDM b) SPDMDQ c) SPDQDM  d) DPSMDQ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1" name="Google Shape;201;p4"/>
          <p:cNvSpPr txBox="1"/>
          <p:nvPr>
            <p:ph idx="1" type="body"/>
          </p:nvPr>
        </p:nvSpPr>
        <p:spPr>
          <a:xfrm>
            <a:off x="78377" y="1837509"/>
            <a:ext cx="12043954" cy="50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7) In a certain code CROWNED is written as PSDVEFO. How is STREAMS Written in that code?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SUTDBNT b) TUSDTNB c) SUTFTNB  d) QSRDTNB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8) In a certain code if LOUD is written as JQSF then which of the following English words shall be coded as PKQG? 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AutoNum type="alphaLcParenR"/>
            </a:pPr>
            <a:r>
              <a:rPr lang="en-US"/>
              <a:t>RISE b) ROPE c) ROAD  d) RICE e)None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9.In a certain code BEND ls written as '5134‘ and DIAL is written as ‘4926’. How is LINE written in that code?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6394  b) 6943 c) 6931 d) 6134 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10.In a certain code language DOWN is written as 5139 and NEAR is written as 9486. How is RODE written in that code language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a) 6154  b) 6514 c) 9154  d) 3154 e)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1</a:t>
            </a:r>
            <a:r>
              <a:rPr lang="en-US"/>
              <a:t>1. If EDUCATION is written as 5421312091514 then how is CAT written?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 13120     B) 312    C) 3120  D) 31209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12.If DOOR = 25, LOWER=37, TOWER=18, then OVER = ?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/>
              <a:t>A) 81    B) 45       C) 60     D) 06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 txBox="1"/>
          <p:nvPr>
            <p:ph idx="1" type="body"/>
          </p:nvPr>
        </p:nvSpPr>
        <p:spPr>
          <a:xfrm>
            <a:off x="0" y="1846026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13.In a certain code language 'DEAR' is written as %#$?, ‘RED’ is written as “?#%’. ‘MORE’ is written as ‘@*?#'. how is ‘DREAM’written in that code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(1)#?%$@ (2)#%?$@ (3)%?#$@ (4)%?#$@ (5) None of these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Directions (14-18) : Study the following information to answer the glven questions 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In a certain code “new banking systems” is coded as “ss tp na", “officer in uniform” is coded as “or mu at”, . “new bank officer” is coded as ”or bk na” and “systems in bank” is coded as “bk at ss”.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14. What does the code “bk” stand for?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(1) new (2) systems (3) officer (4) in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15. What will the code “ss mu” stand for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(1) banking officer (2) new uniform (3) uniform banking (4) in systems (5) uniform systems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16. How will “new officer” be coded?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(1) or na (2) tp na (3) na at (4) tp or (5) ss at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17. How will "‘bank officer in uniform” be coded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(1) ss na at or (2) bk at or mu (3) ss na bk at (4) at mu ss or (5) bk ss mu 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18. What is the code for “in”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None/>
            </a:pPr>
            <a:r>
              <a:rPr lang="en-US"/>
              <a:t> (1) as (2) or (3) at (4) mu  (5) None of these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 txBox="1"/>
          <p:nvPr>
            <p:ph idx="1" type="body"/>
          </p:nvPr>
        </p:nvSpPr>
        <p:spPr>
          <a:xfrm>
            <a:off x="-208700" y="1737354"/>
            <a:ext cx="12122400" cy="50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Conditions: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(a) If the first letter is consonants and the last letter is vowel their  codes are to be inter changed.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(b) If both the first and the last letters are vowels, both are to be coded as *.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(c) If the first letter is a vowel and the last letter is consonant, Both are to be coded as the code for the consonant.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19. TUKDIP  (l) 1©4627 (2) 1©4621 (3) 7©4621 (4) 1©6427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20. EFDMKA (1) $%6548 (2) $%654$ (3) *%654* (4) 8%6548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21. APWTUH (1) *7@1©*  (2) 87@1©3 (3) 37@1©8 (4) 87@1©8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22.MARTWE.(l) 58#1@$ (2) 58#1@5 (3) $8#1@5 (4) $8#1@9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400"/>
              <a:buNone/>
            </a:pPr>
            <a:r>
              <a:rPr lang="en-US" sz="1400"/>
              <a:t>23. HEMKZI (1) 2$5493 (2) 3#5492 (3) 3$5493 (4) 2$5492 (5) None of these </a:t>
            </a:r>
            <a:endParaRPr sz="1400"/>
          </a:p>
        </p:txBody>
      </p:sp>
      <p:pic>
        <p:nvPicPr>
          <p:cNvPr id="226" name="Google Shape;2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901" y="1959429"/>
            <a:ext cx="7163299" cy="1445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24.If ‘white’ called ‘black’: ‘black’ called ‘red’; ‘red’ called ‘blue’, ‘blue’ called ‘yellow’ and ‘yellow‘ called ‘grey', then which of the following represents the colour of clear sky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(1) blue (2) red (3) yellow  (4) Cannot be determined (5) None of these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"/>
          <p:cNvSpPr txBox="1"/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>
            <p:ph idx="1" type="body"/>
          </p:nvPr>
        </p:nvSpPr>
        <p:spPr>
          <a:xfrm>
            <a:off x="0" y="1833154"/>
            <a:ext cx="12122331" cy="5024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/>
              <a:t>                                                                                       </a:t>
            </a:r>
            <a:r>
              <a:rPr lang="en-US" sz="3600"/>
              <a:t>THANK YOU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 spider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2022-04-07T04:00:07Z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