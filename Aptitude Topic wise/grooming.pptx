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9" r:id="rId3"/>
  </p:sldMasterIdLst>
  <p:notesMasterIdLst>
    <p:notesMasterId r:id="rId5"/>
  </p:notesMasterIdLst>
  <p:handoutMasterIdLst>
    <p:handoutMasterId r:id="rId24"/>
  </p:handoutMasterIdLst>
  <p:sldIdLst>
    <p:sldId id="258" r:id="rId4"/>
    <p:sldId id="341" r:id="rId6"/>
    <p:sldId id="342" r:id="rId7"/>
    <p:sldId id="303" r:id="rId8"/>
    <p:sldId id="344" r:id="rId9"/>
    <p:sldId id="345" r:id="rId10"/>
    <p:sldId id="346" r:id="rId11"/>
    <p:sldId id="347" r:id="rId12"/>
    <p:sldId id="348" r:id="rId13"/>
    <p:sldId id="350" r:id="rId14"/>
    <p:sldId id="351" r:id="rId15"/>
    <p:sldId id="349" r:id="rId16"/>
    <p:sldId id="340" r:id="rId17"/>
    <p:sldId id="339" r:id="rId18"/>
    <p:sldId id="319" r:id="rId19"/>
    <p:sldId id="357" r:id="rId20"/>
    <p:sldId id="358" r:id="rId21"/>
    <p:sldId id="359" r:id="rId22"/>
    <p:sldId id="31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9" autoAdjust="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F5CEFB0D-6DB6-450D-981E-DB5B064ABC8F}" type="datetime1">
              <a:rPr lang="en-US" noProof="0" smtClean="0"/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/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666C8650-8C82-4FB0-9266-0148B376A8CE}" type="datetime1">
              <a:rPr lang="en-US" noProof="0" smtClean="0"/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1529DE01-3159-42E8-9946-B3F7564EBC72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/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14" name="Rectangle 13"/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14" name="Rectangle 13"/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7E74ECCD-A9BB-4C40-8999-9FDE0B2AF02D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B9A11315-80A2-4A6F-99BC-2337EDBA509A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/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9" name="Rectangle 8"/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cxnSp>
        <p:nvCxnSpPr>
          <p:cNvPr id="15" name="Connecteur droit 19"/>
          <p:cNvCxnSpPr/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/>
          <p:cNvCxnSpPr/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/>
          <p:cNvCxnSpPr/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F2DB7022-84E8-42F0-8AEA-ADED76AFD446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5" name="Rectangle 4"/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8" name="Rectangle 17"/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42F667F3-A942-43B7-9681-6435F4941075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5D576BB9-001A-4B59-8C51-603E71AE3226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4" name="Rectangle 13"/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/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833154"/>
            <a:ext cx="12122331" cy="50248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4503" y="-95794"/>
            <a:ext cx="12087497" cy="18331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629399" y="696686"/>
            <a:ext cx="5144589" cy="3289780"/>
          </a:xfrm>
        </p:spPr>
        <p:txBody>
          <a:bodyPr>
            <a:normAutofit fontScale="90000"/>
          </a:bodyPr>
          <a:lstStyle/>
          <a:p>
            <a:r>
              <a:rPr lang="en-IN" altLang="en-US" dirty="0">
                <a:solidFill>
                  <a:srgbClr val="FF0000"/>
                </a:solidFill>
              </a:rPr>
              <a:t>Delta x</a:t>
            </a:r>
            <a:br>
              <a:rPr lang="en-IN" altLang="en-US" dirty="0">
                <a:solidFill>
                  <a:srgbClr val="FF0000"/>
                </a:solidFill>
              </a:rPr>
            </a:br>
            <a:r>
              <a:rPr lang="en-IN" altLang="en-US" dirty="0">
                <a:solidFill>
                  <a:srgbClr val="FF0000"/>
                </a:solidFill>
              </a:rPr>
              <a:t>Sapphire</a:t>
            </a:r>
            <a:br>
              <a:rPr lang="en-IN" altLang="en-US" dirty="0">
                <a:solidFill>
                  <a:srgbClr val="FF0000"/>
                </a:solidFill>
              </a:rPr>
            </a:br>
            <a:r>
              <a:rPr lang="en-IN" altLang="en-US" dirty="0">
                <a:solidFill>
                  <a:srgbClr val="FF0000"/>
                </a:solidFill>
              </a:rPr>
              <a:t>conduent</a:t>
            </a:r>
            <a:br>
              <a:rPr lang="en-IN" altLang="en-US" dirty="0">
                <a:solidFill>
                  <a:srgbClr val="FF0000"/>
                </a:solidFill>
              </a:rPr>
            </a:br>
            <a:r>
              <a:rPr lang="en-IN" altLang="en-US" dirty="0">
                <a:solidFill>
                  <a:srgbClr val="FF0000"/>
                </a:solidFill>
              </a:rPr>
              <a:t>quick move</a:t>
            </a:r>
            <a:endParaRPr lang="en-IN" altLang="en-US" dirty="0">
              <a:solidFill>
                <a:srgbClr val="FF0000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Vignesh m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Two cars starts at the same time from A and B which is 120 km apart. If the two cars travel in opposite direction they meet after one hour and if they travel in same direction (from A towards B) then A meet B after 6 hours. What is the speed of car starting from A? </a:t>
            </a:r>
            <a:endParaRPr lang="en-US"/>
          </a:p>
          <a:p>
            <a:r>
              <a:rPr lang="en-US"/>
              <a:t>a)70 kmph</a:t>
            </a:r>
            <a:endParaRPr lang="en-US"/>
          </a:p>
          <a:p>
            <a:r>
              <a:rPr lang="en-US"/>
              <a:t>b)60 kmph</a:t>
            </a:r>
            <a:endParaRPr lang="en-US"/>
          </a:p>
          <a:p>
            <a:r>
              <a:rPr lang="en-US"/>
              <a:t>c)50 kmph</a:t>
            </a:r>
            <a:endParaRPr lang="en-US"/>
          </a:p>
          <a:p>
            <a:r>
              <a:rPr lang="en-US"/>
              <a:t>d)120 kmph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 super fast express overtakes a passenger train in 20 seconds. The speed of the faster train is 72 km/h and speed of the slower train is 27 km/h. If the length of the faster train is 100 m. Find the length of the slower train ?</a:t>
            </a:r>
            <a:endParaRPr lang="en-US"/>
          </a:p>
          <a:p>
            <a:r>
              <a:rPr lang="en-US"/>
              <a:t>a) 125 m</a:t>
            </a:r>
            <a:endParaRPr lang="en-US"/>
          </a:p>
          <a:p>
            <a:r>
              <a:rPr lang="en-US"/>
              <a:t>b) 150 m</a:t>
            </a:r>
            <a:endParaRPr lang="en-US"/>
          </a:p>
          <a:p>
            <a:r>
              <a:rPr lang="en-US"/>
              <a:t>c) 175 m</a:t>
            </a:r>
            <a:endParaRPr lang="en-US"/>
          </a:p>
          <a:p>
            <a:r>
              <a:rPr lang="en-US"/>
              <a:t>d) 200 m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train sets off at 2 p.m. at the speed of 70 kmph. Another train starts at 3:30 p.m. in the same direction at the rate of 85 kmph. At what time the trains will meet?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dirty="0">
                <a:sym typeface="+mn-ea"/>
              </a:rPr>
              <a:t>Twenty women can do a work in sixteen days. Sixteen men can completed the same work in fifteen days. What is the ratio between the capacity of a man and women?</a:t>
            </a:r>
            <a:endParaRPr lang="en-IN" dirty="0"/>
          </a:p>
          <a:p>
            <a:r>
              <a:rPr lang="en-IN" dirty="0">
                <a:sym typeface="+mn-ea"/>
              </a:rPr>
              <a:t>a) 3:4   b) 4:3    c) 5:3 </a:t>
            </a:r>
            <a:endParaRPr lang="en-IN" dirty="0"/>
          </a:p>
          <a:p>
            <a:r>
              <a:rPr lang="en-IN" dirty="0">
                <a:sym typeface="+mn-ea"/>
              </a:rPr>
              <a:t>5 mat-weavers can weave 5 mats in 5 days. At the same time, how many mats would be woven by 10 mat- weavers in 10 days?</a:t>
            </a:r>
            <a:endParaRPr lang="en-IN" dirty="0"/>
          </a:p>
          <a:p>
            <a:r>
              <a:rPr lang="en-IN" dirty="0">
                <a:sym typeface="+mn-ea"/>
              </a:rPr>
              <a:t>a. 10 mats    b. 15 mats    c. 20 mats    d. 30 mats</a:t>
            </a:r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dirty="0">
                <a:sym typeface="+mn-ea"/>
              </a:rPr>
              <a:t>A can finish a work in 18 days and B can do the same work in 15 days. B worked for 10 days and left the job. In how many days, A alone can finish the remaining work?</a:t>
            </a:r>
            <a:endParaRPr lang="en-US" dirty="0"/>
          </a:p>
          <a:p>
            <a:r>
              <a:rPr lang="en-US" dirty="0">
                <a:sym typeface="+mn-ea"/>
              </a:rPr>
              <a:t>a) 5   b) 7    c ) 6   d) 8</a:t>
            </a:r>
            <a:endParaRPr lang="en-US" dirty="0"/>
          </a:p>
          <a:p>
            <a:endParaRPr lang="en-US" dirty="0"/>
          </a:p>
          <a:p>
            <a:endParaRPr lang="en-US"/>
          </a:p>
          <a:p>
            <a:r>
              <a:rPr lang="en-US">
                <a:sym typeface="+mn-ea"/>
              </a:rPr>
              <a:t>X and Y can do a piece of work in 20 days and 12 days respectively. X started the work alone and then after 4 days .Y joined him till the completion of the work. How long did the work last?</a:t>
            </a:r>
            <a:endParaRPr lang="en-US"/>
          </a:p>
          <a:p>
            <a:r>
              <a:rPr lang="en-US">
                <a:sym typeface="+mn-ea"/>
              </a:rPr>
              <a:t>a) 6 days  b) 10 days   c) 15 days  d) 20 days</a:t>
            </a:r>
            <a:endParaRPr lang="en-US"/>
          </a:p>
          <a:p>
            <a:r>
              <a:rPr lang="en-US">
                <a:sym typeface="+mn-ea"/>
              </a:rPr>
              <a:t> 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dirty="0">
                <a:sym typeface="+mn-ea"/>
              </a:rPr>
              <a:t>A fruit seller had some apples. He sells 35% apples and still has 390 apples. Originally he had </a:t>
            </a:r>
            <a:endParaRPr lang="en-US" dirty="0"/>
          </a:p>
          <a:p>
            <a:r>
              <a:rPr lang="en-US" dirty="0">
                <a:sym typeface="+mn-ea"/>
              </a:rPr>
              <a:t>(A) 600 (B) 540 . (C) 650 (D) 580 </a:t>
            </a:r>
            <a:endParaRPr lang="en-US" dirty="0"/>
          </a:p>
          <a:p>
            <a:endParaRPr lang="en-US" dirty="0" smtClean="0"/>
          </a:p>
          <a:p>
            <a:r>
              <a:rPr lang="en-US" dirty="0">
                <a:sym typeface="+mn-ea"/>
              </a:rPr>
              <a:t>At an election there were two candidates. A candidates got 38% vote and lost by 7200 number of votes. The total number of valid votes were: </a:t>
            </a:r>
            <a:endParaRPr lang="en-US" dirty="0"/>
          </a:p>
          <a:p>
            <a:r>
              <a:rPr lang="en-US" dirty="0">
                <a:sym typeface="+mn-ea"/>
              </a:rPr>
              <a:t>(a) 13000 (b) 13800 (c) 16200 (d) 30000 </a:t>
            </a:r>
            <a:endParaRPr lang="en-US" dirty="0"/>
          </a:p>
          <a:p>
            <a:endParaRPr lang="en-US" dirty="0" smtClean="0"/>
          </a:p>
          <a:p>
            <a:r>
              <a:rPr lang="en-IN" dirty="0" smtClean="0">
                <a:sym typeface="+mn-ea"/>
              </a:rPr>
              <a:t>Of </a:t>
            </a:r>
            <a:r>
              <a:rPr lang="en-IN" dirty="0">
                <a:sym typeface="+mn-ea"/>
              </a:rPr>
              <a:t>the 1000 people of a town 60% are males of whom 20% are literate</a:t>
            </a:r>
            <a:r>
              <a:rPr lang="en-IN" dirty="0" smtClean="0">
                <a:sym typeface="+mn-ea"/>
              </a:rPr>
              <a:t>. If </a:t>
            </a:r>
            <a:r>
              <a:rPr lang="en-IN" dirty="0">
                <a:sym typeface="+mn-ea"/>
              </a:rPr>
              <a:t>all the peoples 25% are literate then what percent of the females of the town are literate? </a:t>
            </a:r>
            <a:endParaRPr lang="en-IN" dirty="0"/>
          </a:p>
          <a:p>
            <a:endParaRPr lang="en-US" dirty="0"/>
          </a:p>
          <a:p>
            <a:r>
              <a:rPr lang="en-US" dirty="0">
                <a:sym typeface="+mn-ea"/>
              </a:rPr>
              <a:t>(</a:t>
            </a:r>
            <a:r>
              <a:rPr lang="en-IN" dirty="0">
                <a:sym typeface="+mn-ea"/>
              </a:rPr>
              <a:t>a) 22.5% (b) 27.5 % (c) 32.5 % (d) 37.5 %</a:t>
            </a:r>
            <a:endParaRPr lang="en-US" dirty="0" smtClean="0"/>
          </a:p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IN">
                <a:sym typeface="+mn-ea"/>
              </a:rPr>
              <a:t>Answer the questions given as per details given in the graph, which provides the consumption of metal and plastic across 6 years.</a:t>
            </a:r>
            <a:endParaRPr lang="en-IN">
              <a:sym typeface="+mn-ea"/>
            </a:endParaRPr>
          </a:p>
          <a:p>
            <a:endParaRPr lang="en-IN">
              <a:sym typeface="+mn-ea"/>
            </a:endParaRPr>
          </a:p>
          <a:p>
            <a:endParaRPr lang="en-IN">
              <a:sym typeface="+mn-ea"/>
            </a:endParaRPr>
          </a:p>
          <a:p>
            <a:endParaRPr lang="en-IN">
              <a:sym typeface="+mn-ea"/>
            </a:endParaRPr>
          </a:p>
          <a:p>
            <a:endParaRPr lang="en-IN">
              <a:sym typeface="+mn-ea"/>
            </a:endParaRPr>
          </a:p>
          <a:p>
            <a:endParaRPr lang="en-IN"/>
          </a:p>
          <a:p>
            <a:endParaRPr lang="en-IN">
              <a:sym typeface="+mn-ea"/>
            </a:endParaRPr>
          </a:p>
          <a:p>
            <a:endParaRPr lang="en-IN">
              <a:sym typeface="+mn-ea"/>
            </a:endParaRPr>
          </a:p>
          <a:p>
            <a:r>
              <a:rPr lang="en-IN">
                <a:sym typeface="+mn-ea"/>
              </a:rPr>
              <a:t> What is the ratio of the total consumption of metal to that of plastic in the given period?</a:t>
            </a:r>
            <a:endParaRPr lang="en-IN"/>
          </a:p>
          <a:p>
            <a:r>
              <a:rPr lang="en-IN">
                <a:sym typeface="+mn-ea"/>
              </a:rPr>
              <a:t>(a) 4:5		(b) 18:23	(c) 19:23	(d) 24:35</a:t>
            </a:r>
            <a:endParaRPr lang="en-IN"/>
          </a:p>
          <a:p>
            <a:endParaRPr lang="en-US" dirty="0"/>
          </a:p>
          <a:p>
            <a:endParaRPr lang="en-US"/>
          </a:p>
        </p:txBody>
      </p:sp>
      <p:pic>
        <p:nvPicPr>
          <p:cNvPr id="5" name="Picture 4"/>
          <p:cNvPicPr/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8195" y="2581275"/>
            <a:ext cx="9530080" cy="2872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Study the following graph carefully and answer the questions given below it.</a:t>
            </a:r>
            <a:endParaRPr lang="en-US"/>
          </a:p>
          <a:p>
            <a:r>
              <a:rPr lang="en-US">
                <a:sym typeface="+mn-ea"/>
              </a:rPr>
              <a:t>Production and sale of printers of various companies in a month.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>
                <a:sym typeface="+mn-ea"/>
              </a:rPr>
              <a:t>	What is the average number of units sold by all the companies together?</a:t>
            </a:r>
            <a:endParaRPr lang="en-US"/>
          </a:p>
          <a:p>
            <a:r>
              <a:rPr lang="en-US">
                <a:sym typeface="+mn-ea"/>
              </a:rPr>
              <a:t>	(a) 360		(b) 390		(c) 375		(d) 410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65735" y="2860040"/>
            <a:ext cx="10176510" cy="24568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Study the following graph and the table and answer the questions given below.</a:t>
            </a:r>
            <a:endParaRPr lang="en-US"/>
          </a:p>
          <a:p>
            <a:r>
              <a:rPr lang="en-US"/>
              <a:t> Data of different states regarding population of states in the year 2012</a:t>
            </a:r>
            <a:endParaRPr lang="en-US"/>
          </a:p>
          <a:p>
            <a:endParaRPr lang="en-US"/>
          </a:p>
          <a:p>
            <a:r>
              <a:rPr lang="en-US"/>
              <a:t>						</a:t>
            </a:r>
            <a:r>
              <a:rPr lang="en-US" dirty="0">
                <a:sym typeface="+mn-ea"/>
              </a:rPr>
              <a:t>Total population of the given states = 2000000.</a:t>
            </a:r>
            <a:endParaRPr lang="en-US" dirty="0"/>
          </a:p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rcRect l="4845" t="6799" r="6178" b="7933"/>
          <a:stretch>
            <a:fillRect/>
          </a:stretch>
        </p:blipFill>
        <p:spPr>
          <a:xfrm>
            <a:off x="170180" y="2799080"/>
            <a:ext cx="4313555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2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5267008" y="3822700"/>
            <a:ext cx="6344285" cy="2580640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What was the number of males in D state in the year 2012?</a:t>
            </a:r>
            <a:endParaRPr lang="en-US"/>
          </a:p>
          <a:p>
            <a:r>
              <a:rPr lang="en-US"/>
              <a:t>	(a) 220000		(b) 120000	(c) 260000	(d) 240000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>
                <a:sym typeface="+mn-ea"/>
              </a:rPr>
              <a:t>Hari sold his horse for Rs. 3270 and gain 9%. Then Hari bought the horse for </a:t>
            </a:r>
            <a:endParaRPr lang="en-IN"/>
          </a:p>
          <a:p>
            <a:r>
              <a:rPr lang="en-IN">
                <a:sym typeface="+mn-ea"/>
              </a:rPr>
              <a:t>(a) 3020 (b) 3150 (c) 3000 (d) 3250 </a:t>
            </a:r>
            <a:endParaRPr lang="en-IN"/>
          </a:p>
          <a:p>
            <a:endParaRPr lang="en-IN"/>
          </a:p>
          <a:p>
            <a:r>
              <a:rPr>
                <a:sym typeface="+mn-ea"/>
              </a:rPr>
              <a:t>On selling an article for Rs. 400, a man loses 20%. What will be the selling price, if desired profit is 10%? 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(a) Rs. 500 (b) Rs. 550 (c) Rs. 400 (d) None of these 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 dirty="0">
                <a:sym typeface="+mn-ea"/>
              </a:rPr>
              <a:t>1.</a:t>
            </a:r>
            <a:r>
              <a:rPr lang="en-US" dirty="0">
                <a:sym typeface="+mn-ea"/>
              </a:rPr>
              <a:t>In a certain code BREAK is written as </a:t>
            </a:r>
            <a:r>
              <a:rPr lang="en-US" dirty="0" err="1">
                <a:sym typeface="+mn-ea"/>
              </a:rPr>
              <a:t>ASDBJ.How</a:t>
            </a:r>
            <a:r>
              <a:rPr lang="en-US" dirty="0">
                <a:sym typeface="+mn-ea"/>
              </a:rPr>
              <a:t> is SOLAR written in that code? </a:t>
            </a:r>
            <a:endParaRPr lang="en-US" dirty="0"/>
          </a:p>
          <a:p>
            <a:r>
              <a:rPr lang="en-US" dirty="0">
                <a:sym typeface="+mn-ea"/>
              </a:rPr>
              <a:t>a) RPKBS b) TPMBS c) RPKBQ  d) TPKBQ e) None of these </a:t>
            </a:r>
            <a:endParaRPr lang="en-US" dirty="0">
              <a:sym typeface="+mn-ea"/>
            </a:endParaRPr>
          </a:p>
          <a:p>
            <a:r>
              <a:rPr lang="en-IN" dirty="0" smtClean="0">
                <a:sym typeface="+mn-ea"/>
              </a:rPr>
              <a:t>2.If </a:t>
            </a:r>
            <a:r>
              <a:rPr lang="en-IN" dirty="0">
                <a:sym typeface="+mn-ea"/>
              </a:rPr>
              <a:t>KGLFT is written as PTOUG, the MERSA is written as ?</a:t>
            </a:r>
            <a:endParaRPr lang="en-IN" dirty="0"/>
          </a:p>
          <a:p>
            <a:r>
              <a:rPr lang="en-IN" dirty="0" smtClean="0">
                <a:sym typeface="+mn-ea"/>
              </a:rPr>
              <a:t>A</a:t>
            </a:r>
            <a:r>
              <a:rPr lang="en-IN" dirty="0">
                <a:sym typeface="+mn-ea"/>
              </a:rPr>
              <a:t>) NVIHZ     B) VIHNZ     C) NVLHZ       D) NVIHA</a:t>
            </a:r>
            <a:endParaRPr lang="en-IN" dirty="0"/>
          </a:p>
          <a:p>
            <a:r>
              <a:rPr lang="en-IN" altLang="en-US"/>
              <a:t>3.</a:t>
            </a:r>
            <a:r>
              <a:rPr lang="en-IN" dirty="0">
                <a:sym typeface="+mn-ea"/>
              </a:rPr>
              <a:t>If EDUCATION is written as 5421312091514 then how is CAT written?</a:t>
            </a:r>
            <a:endParaRPr lang="en-IN" dirty="0"/>
          </a:p>
          <a:p>
            <a:r>
              <a:rPr lang="en-IN" dirty="0" smtClean="0">
                <a:sym typeface="+mn-ea"/>
              </a:rPr>
              <a:t>A</a:t>
            </a:r>
            <a:r>
              <a:rPr lang="en-IN" dirty="0">
                <a:sym typeface="+mn-ea"/>
              </a:rPr>
              <a:t>) 13120     B) 312    C) 3120  D) 31209</a:t>
            </a:r>
            <a:endParaRPr lang="en-IN" dirty="0"/>
          </a:p>
          <a:p>
            <a:r>
              <a:rPr lang="en-IN" dirty="0" smtClean="0">
                <a:sym typeface="+mn-ea"/>
              </a:rPr>
              <a:t>4If </a:t>
            </a:r>
            <a:r>
              <a:rPr lang="en-IN" dirty="0">
                <a:sym typeface="+mn-ea"/>
              </a:rPr>
              <a:t>DOOR = 25, LOWER=37, TOWER=18, then OVER = ?</a:t>
            </a:r>
            <a:endParaRPr lang="en-IN" dirty="0"/>
          </a:p>
          <a:p>
            <a:r>
              <a:rPr lang="en-IN" dirty="0">
                <a:sym typeface="+mn-ea"/>
              </a:rPr>
              <a:t>A) 81    B) 45       C) 60     D) 06</a:t>
            </a:r>
            <a:endParaRPr lang="en-IN" dirty="0"/>
          </a:p>
          <a:p>
            <a:endParaRPr lang="en-I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 dirty="0">
                <a:sym typeface="+mn-ea"/>
              </a:rPr>
              <a:t>I</a:t>
            </a:r>
            <a:r>
              <a:rPr lang="en-US" dirty="0">
                <a:sym typeface="+mn-ea"/>
              </a:rPr>
              <a:t>n a certain code “new banking systems” is coded as “</a:t>
            </a:r>
            <a:r>
              <a:rPr lang="en-US" dirty="0" err="1">
                <a:sym typeface="+mn-ea"/>
              </a:rPr>
              <a:t>ss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tp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na</a:t>
            </a:r>
            <a:r>
              <a:rPr lang="en-US" dirty="0">
                <a:sym typeface="+mn-ea"/>
              </a:rPr>
              <a:t>", “officer in uniform” is coded as “or mu at”, . “new bank officer” is coded as ”or </a:t>
            </a:r>
            <a:r>
              <a:rPr lang="en-US" dirty="0" err="1">
                <a:sym typeface="+mn-ea"/>
              </a:rPr>
              <a:t>bk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na</a:t>
            </a:r>
            <a:r>
              <a:rPr lang="en-US" dirty="0">
                <a:sym typeface="+mn-ea"/>
              </a:rPr>
              <a:t>” and “systems in bank” is coded as “</a:t>
            </a:r>
            <a:r>
              <a:rPr lang="en-US" dirty="0" err="1">
                <a:sym typeface="+mn-ea"/>
              </a:rPr>
              <a:t>bk</a:t>
            </a:r>
            <a:r>
              <a:rPr lang="en-US" dirty="0">
                <a:sym typeface="+mn-ea"/>
              </a:rPr>
              <a:t> at </a:t>
            </a:r>
            <a:r>
              <a:rPr lang="en-US" dirty="0" err="1">
                <a:sym typeface="+mn-ea"/>
              </a:rPr>
              <a:t>ss</a:t>
            </a:r>
            <a:r>
              <a:rPr lang="en-US" dirty="0">
                <a:sym typeface="+mn-ea"/>
              </a:rPr>
              <a:t>”. </a:t>
            </a:r>
            <a:endParaRPr lang="en-US" dirty="0"/>
          </a:p>
          <a:p>
            <a:r>
              <a:rPr lang="en-US" dirty="0">
                <a:sym typeface="+mn-ea"/>
              </a:rPr>
              <a:t>What is the code for “in” ? </a:t>
            </a:r>
            <a:endParaRPr lang="en-US" dirty="0"/>
          </a:p>
          <a:p>
            <a:r>
              <a:rPr lang="en-US" dirty="0">
                <a:sym typeface="+mn-ea"/>
              </a:rPr>
              <a:t> (1) as (2) or (3) at (4) mu  (5) None of these </a:t>
            </a:r>
            <a:endParaRPr lang="en-US" dirty="0"/>
          </a:p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B is the brother of A, S is the sister of B, E is the brother of D, D is the daughter of A, F is the father of S. Then, the uncle of E is</a:t>
            </a:r>
            <a:endParaRPr lang="en-US" dirty="0"/>
          </a:p>
          <a:p>
            <a:r>
              <a:rPr lang="en-US" dirty="0">
                <a:sym typeface="+mn-ea"/>
              </a:rPr>
              <a:t> (a) A (b) B (c) F (d) D </a:t>
            </a:r>
            <a:endParaRPr lang="en-US" dirty="0">
              <a:sym typeface="+mn-ea"/>
            </a:endParaRPr>
          </a:p>
          <a:p>
            <a:r>
              <a:rPr lang="en-US" dirty="0" smtClean="0">
                <a:sym typeface="+mn-ea"/>
              </a:rPr>
              <a:t>Pointing </a:t>
            </a:r>
            <a:r>
              <a:rPr lang="en-US" dirty="0">
                <a:sym typeface="+mn-ea"/>
              </a:rPr>
              <a:t>to a girl, Mihir said “She is the only daughter of my grandfather’s only child”. How is the girl related to Mihir ? </a:t>
            </a:r>
            <a:endParaRPr lang="en-US" dirty="0"/>
          </a:p>
          <a:p>
            <a:r>
              <a:rPr lang="en-US" dirty="0">
                <a:sym typeface="+mn-ea"/>
              </a:rPr>
              <a:t>(1) Daughter (2) Niece (3) Sister (4) None of these</a:t>
            </a:r>
            <a:endParaRPr lang="en-US" dirty="0"/>
          </a:p>
          <a:p>
            <a:r>
              <a:rPr lang="en-US" dirty="0">
                <a:sym typeface="+mn-ea"/>
              </a:rPr>
              <a:t>Anil, introducing a girl in a party. said, ‘She is the wife of the grandson of my mother’. How is Anil related to the girl? </a:t>
            </a:r>
            <a:endParaRPr lang="en-US" dirty="0"/>
          </a:p>
          <a:p>
            <a:r>
              <a:rPr lang="en-US" dirty="0">
                <a:sym typeface="+mn-ea"/>
              </a:rPr>
              <a:t>(1) Father (2) Grandfather (3) Husband (4) Father-in-law (5) None of these  </a:t>
            </a:r>
            <a:endParaRPr lang="en-US" dirty="0"/>
          </a:p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 bag contains 3 blue, 2 green and 5 red balls. If four balls are picked at random, what is the probability that two are green and two are blue? </a:t>
            </a:r>
            <a:endParaRPr lang="en-US"/>
          </a:p>
          <a:p>
            <a:endParaRPr lang="en-US"/>
          </a:p>
          <a:p>
            <a:r>
              <a:rPr lang="en-US"/>
              <a:t>1/18 </a:t>
            </a:r>
            <a:endParaRPr lang="en-US"/>
          </a:p>
          <a:p>
            <a:r>
              <a:rPr lang="en-US"/>
              <a:t>(b) 1/70 </a:t>
            </a:r>
            <a:endParaRPr lang="en-US"/>
          </a:p>
          <a:p>
            <a:r>
              <a:rPr lang="en-US"/>
              <a:t>(c) 3/5 </a:t>
            </a:r>
            <a:endParaRPr lang="en-US"/>
          </a:p>
          <a:p>
            <a:r>
              <a:rPr lang="en-US"/>
              <a:t>(d) 1/2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 A box contains 3 red and 4 green marbles. If three marbles are picked at random. What is the probability that two are green and one is red ?</a:t>
            </a:r>
            <a:endParaRPr lang="en-US"/>
          </a:p>
          <a:p>
            <a:endParaRPr lang="en-US"/>
          </a:p>
          <a:p>
            <a:r>
              <a:rPr lang="en-US"/>
              <a:t>(a) 18/35 </a:t>
            </a:r>
            <a:endParaRPr lang="en-US"/>
          </a:p>
          <a:p>
            <a:r>
              <a:rPr lang="en-US"/>
              <a:t>(b) 4/21 </a:t>
            </a:r>
            <a:endParaRPr lang="en-US"/>
          </a:p>
          <a:p>
            <a:r>
              <a:rPr lang="en-US"/>
              <a:t>(c) 3/7  </a:t>
            </a:r>
            <a:endParaRPr lang="en-US"/>
          </a:p>
          <a:p>
            <a:r>
              <a:rPr lang="en-US"/>
              <a:t>(d)5/14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 bag contains 5 red balls, 6 yellow balls and 3 green ball .If two balls are picked at random what is the probability that either both are red on both are green in colour?</a:t>
            </a:r>
            <a:endParaRPr lang="en-US"/>
          </a:p>
          <a:p>
            <a:r>
              <a:rPr lang="en-US"/>
              <a:t>(a) 3/7 </a:t>
            </a:r>
            <a:endParaRPr lang="en-US"/>
          </a:p>
          <a:p>
            <a:r>
              <a:rPr lang="en-US"/>
              <a:t>(b) 5/14 </a:t>
            </a:r>
            <a:endParaRPr lang="en-US"/>
          </a:p>
          <a:p>
            <a:r>
              <a:rPr lang="en-US"/>
              <a:t>(c) 1/7 </a:t>
            </a:r>
            <a:endParaRPr lang="en-US"/>
          </a:p>
          <a:p>
            <a:r>
              <a:rPr lang="en-US"/>
              <a:t>(d) 2/7 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                                                                                       </a:t>
            </a:r>
            <a:r>
              <a:rPr lang="en-IN" sz="3600" dirty="0" smtClean="0"/>
              <a:t>THANK YOU</a:t>
            </a:r>
            <a:endParaRPr lang="en-IN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 spider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5058</Words>
  <Application>WPS Presentation</Application>
  <PresentationFormat>Widescreen</PresentationFormat>
  <Paragraphs>136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Cambria</vt:lpstr>
      <vt:lpstr>Calibri</vt:lpstr>
      <vt:lpstr>Calibri Light</vt:lpstr>
      <vt:lpstr>Microsoft YaHei</vt:lpstr>
      <vt:lpstr>Arial Unicode MS</vt:lpstr>
      <vt:lpstr>Q spider</vt:lpstr>
      <vt:lpstr>Custom Design</vt:lpstr>
      <vt:lpstr>Delta x Sapphire conduent quick move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vignesh</cp:lastModifiedBy>
  <cp:revision>7</cp:revision>
  <dcterms:created xsi:type="dcterms:W3CDTF">2022-04-07T04:00:00Z</dcterms:created>
  <dcterms:modified xsi:type="dcterms:W3CDTF">2022-06-09T11:40:07Z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393672C70882426AA49DC46A3ECE2455</vt:lpwstr>
  </property>
  <property fmtid="{D5CDD505-2E9C-101B-9397-08002B2CF9AE}" pid="4" name="KSOProductBuildVer">
    <vt:lpwstr>1033-11.2.0.11130</vt:lpwstr>
  </property>
</Properties>
</file>