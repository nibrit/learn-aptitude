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9" r:id="rId3"/>
  </p:sldMasterIdLst>
  <p:notesMasterIdLst>
    <p:notesMasterId r:id="rId5"/>
  </p:notesMasterIdLst>
  <p:handoutMasterIdLst>
    <p:handoutMasterId r:id="rId50"/>
  </p:handoutMasterIdLst>
  <p:sldIdLst>
    <p:sldId id="258" r:id="rId4"/>
    <p:sldId id="319" r:id="rId6"/>
    <p:sldId id="298" r:id="rId7"/>
    <p:sldId id="301" r:id="rId8"/>
    <p:sldId id="303" r:id="rId9"/>
    <p:sldId id="304" r:id="rId10"/>
    <p:sldId id="305" r:id="rId11"/>
    <p:sldId id="306" r:id="rId12"/>
    <p:sldId id="308" r:id="rId13"/>
    <p:sldId id="307" r:id="rId14"/>
    <p:sldId id="309" r:id="rId15"/>
    <p:sldId id="311" r:id="rId16"/>
    <p:sldId id="313" r:id="rId17"/>
    <p:sldId id="316" r:id="rId18"/>
    <p:sldId id="312" r:id="rId19"/>
    <p:sldId id="310" r:id="rId20"/>
    <p:sldId id="317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5" r:id="rId40"/>
    <p:sldId id="354" r:id="rId41"/>
    <p:sldId id="356" r:id="rId42"/>
    <p:sldId id="357" r:id="rId43"/>
    <p:sldId id="358" r:id="rId44"/>
    <p:sldId id="359" r:id="rId45"/>
    <p:sldId id="360" r:id="rId46"/>
    <p:sldId id="361" r:id="rId47"/>
    <p:sldId id="362" r:id="rId48"/>
    <p:sldId id="315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5CEFB0D-6DB6-450D-981E-DB5B064ABC8F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666C8650-8C82-4FB0-9266-0148B376A8CE}" type="datetime1">
              <a:rPr lang="en-US" noProof="0" smtClean="0"/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/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1529DE01-3159-42E8-9946-B3F7564EBC7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/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14" name="Rectangle 13"/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7E74ECCD-A9BB-4C40-8999-9FDE0B2AF02D}" type="datetime1">
              <a:rPr lang="en-US" smtClean="0"/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B9A11315-80A2-4A6F-99BC-2337EDBA509A}" type="datetime1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9" name="Rectangle 8"/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cxnSp>
        <p:nvCxnSpPr>
          <p:cNvPr id="15" name="Connecteur droit 19"/>
          <p:cNvCxnSpPr/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/>
          <p:cNvCxnSpPr/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/>
          <p:cNvCxnSpPr/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F2DB7022-84E8-42F0-8AEA-ADED76AFD446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/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5" name="Rectangle 4"/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/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9" name="Rectangle 18"/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/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/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/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</a:fld>
            <a:endParaRPr lang="en-US" noProof="0" dirty="0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9" name="Rectangle 8"/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42F667F3-A942-43B7-9681-6435F4941075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/>
          <a:lstStyle/>
          <a:p>
            <a:fld id="{5D576BB9-001A-4B59-8C51-603E71AE3226}" type="datetime1">
              <a:rPr lang="en-US" noProof="0" smtClean="0"/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/>
          <a:lstStyle/>
          <a:p>
            <a:r>
              <a:rPr lang="en-US" noProof="0" dirty="0"/>
              <a:t>Footer</a:t>
            </a:r>
            <a:endParaRPr lang="en-US" noProof="0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/>
          <a:lstStyle/>
          <a:p>
            <a:fld id="{3A98EE3D-8CD1-4C3F-BD1C-C98C9596463C}" type="slidenum">
              <a:rPr lang="en-US" noProof="0" smtClean="0"/>
            </a:fld>
            <a:endParaRPr lang="en-US" noProof="0" dirty="0"/>
          </a:p>
        </p:txBody>
      </p:sp>
      <p:sp>
        <p:nvSpPr>
          <p:cNvPr id="14" name="Rectangle 13"/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9.xml"/><Relationship Id="rId8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/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7373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1833154"/>
            <a:ext cx="12122331" cy="502484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endParaRPr lang="en-US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104503" y="-95794"/>
            <a:ext cx="12087497" cy="183315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None/>
        <a:defRPr sz="2000" kern="1200">
          <a:solidFill>
            <a:schemeClr val="tx1">
              <a:lumMod val="75000"/>
              <a:lumOff val="25000"/>
            </a:schemeClr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38417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58B5A-B866-40A6-8E68-2F2F50C8B82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9EBB-3CBD-415B-95BD-C3B435BB827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629399" y="696686"/>
            <a:ext cx="5144589" cy="3289780"/>
          </a:xfrm>
        </p:spPr>
        <p:txBody>
          <a:bodyPr/>
          <a:lstStyle/>
          <a:p>
            <a:r>
              <a:rPr lang="en-IN" altLang="en-US" dirty="0">
                <a:solidFill>
                  <a:srgbClr val="FF0000"/>
                </a:solidFill>
              </a:rPr>
              <a:t>CTS QUANTS</a:t>
            </a:r>
            <a:endParaRPr lang="en-IN" altLang="en-US" dirty="0">
              <a:solidFill>
                <a:srgbClr val="FF0000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+mj-lt"/>
              </a:rPr>
              <a:t>Vignesh m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log</a:t>
            </a:r>
            <a:r>
              <a:rPr lang="en-IN" baseline="-25000"/>
              <a:t>5</a:t>
            </a:r>
            <a:r>
              <a:rPr lang="en-IN"/>
              <a:t> 5x + log</a:t>
            </a:r>
            <a:r>
              <a:rPr lang="en-IN" baseline="-25000"/>
              <a:t>7</a:t>
            </a:r>
            <a:r>
              <a:rPr lang="en-IN"/>
              <a:t> 7 =3</a:t>
            </a:r>
            <a:r>
              <a:rPr lang="en-IN" baseline="30000"/>
              <a:t>2</a:t>
            </a:r>
            <a:endParaRPr lang="en-IN" baseline="30000"/>
          </a:p>
          <a:p>
            <a:r>
              <a:rPr lang="en-IN"/>
              <a:t>a) x= 5</a:t>
            </a:r>
            <a:endParaRPr lang="en-IN"/>
          </a:p>
          <a:p>
            <a:r>
              <a:rPr lang="en-IN"/>
              <a:t>b) x= 8</a:t>
            </a:r>
            <a:endParaRPr lang="en-IN"/>
          </a:p>
          <a:p>
            <a:r>
              <a:rPr lang="en-IN"/>
              <a:t>c) x= 5</a:t>
            </a:r>
            <a:r>
              <a:rPr lang="en-IN" baseline="30000"/>
              <a:t>7</a:t>
            </a:r>
            <a:endParaRPr lang="en-IN"/>
          </a:p>
          <a:p>
            <a:r>
              <a:rPr lang="en-IN"/>
              <a:t>d) x=3</a:t>
            </a:r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Micro - sims pvt.Ltd produces 1200 phones everyday.If out of these 2 1/3 % are faulty and 4 1/3 % are defective in packaging then how many non-faulty and non defective packaged phones are produced everyday?</a:t>
            </a:r>
            <a:endParaRPr lang="en-IN" altLang="en-US" dirty="0"/>
          </a:p>
          <a:p>
            <a:r>
              <a:rPr lang="en-IN" altLang="en-US" dirty="0"/>
              <a:t>a) 1080</a:t>
            </a:r>
            <a:endParaRPr lang="en-IN" altLang="en-US" dirty="0"/>
          </a:p>
          <a:p>
            <a:r>
              <a:rPr lang="en-IN" altLang="en-US" dirty="0"/>
              <a:t>b) 80</a:t>
            </a:r>
            <a:endParaRPr lang="en-IN" altLang="en-US" dirty="0"/>
          </a:p>
          <a:p>
            <a:r>
              <a:rPr lang="en-IN" altLang="en-US" dirty="0"/>
              <a:t>c) 1120</a:t>
            </a:r>
            <a:endParaRPr lang="en-IN" altLang="en-US" dirty="0"/>
          </a:p>
          <a:p>
            <a:r>
              <a:rPr lang="en-IN" altLang="en-US" dirty="0"/>
              <a:t>d) 120</a:t>
            </a:r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/>
              <a:t>If 7</a:t>
            </a:r>
            <a:r>
              <a:rPr lang="en-IN" altLang="en-US" baseline="30000"/>
              <a:t>a+4</a:t>
            </a:r>
            <a:r>
              <a:rPr lang="en-IN" altLang="en-US"/>
              <a:t> * 5</a:t>
            </a:r>
            <a:r>
              <a:rPr lang="en-IN" altLang="en-US" baseline="30000"/>
              <a:t>b</a:t>
            </a:r>
            <a:r>
              <a:rPr lang="en-IN" altLang="en-US"/>
              <a:t> = 1715, then ab=</a:t>
            </a:r>
            <a:endParaRPr lang="en-IN" altLang="en-US"/>
          </a:p>
          <a:p>
            <a:r>
              <a:rPr lang="en-IN" altLang="en-US"/>
              <a:t>a) -1 </a:t>
            </a:r>
            <a:endParaRPr lang="en-IN" altLang="en-US"/>
          </a:p>
          <a:p>
            <a:r>
              <a:rPr lang="en-IN" altLang="en-US"/>
              <a:t>b) 2</a:t>
            </a:r>
            <a:endParaRPr lang="en-IN" altLang="en-US"/>
          </a:p>
          <a:p>
            <a:r>
              <a:rPr lang="en-IN" altLang="en-US"/>
              <a:t>c) 0</a:t>
            </a:r>
            <a:endParaRPr lang="en-IN" altLang="en-US"/>
          </a:p>
          <a:p>
            <a:r>
              <a:rPr lang="en-IN" altLang="en-US"/>
              <a:t>d) 4</a:t>
            </a:r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 descr="WhatsApp Image 2022-05-17 at 6.30.18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9230" y="1833245"/>
            <a:ext cx="8932545" cy="50247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HCF of two numbers is 17. If the numbers are in the ratio 3:7, then their LCM is</a:t>
            </a:r>
            <a:endParaRPr lang="en-IN" altLang="en-US" dirty="0"/>
          </a:p>
          <a:p>
            <a:r>
              <a:rPr lang="en-IN" altLang="en-US" dirty="0"/>
              <a:t>a) 255</a:t>
            </a:r>
            <a:endParaRPr lang="en-IN" altLang="en-US" dirty="0"/>
          </a:p>
          <a:p>
            <a:r>
              <a:rPr lang="en-IN" altLang="en-US" dirty="0"/>
              <a:t>b) 257</a:t>
            </a:r>
            <a:endParaRPr lang="en-IN" altLang="en-US" dirty="0"/>
          </a:p>
          <a:p>
            <a:r>
              <a:rPr lang="en-IN" altLang="en-US" dirty="0"/>
              <a:t>c) 355</a:t>
            </a:r>
            <a:endParaRPr lang="en-IN" altLang="en-US" dirty="0"/>
          </a:p>
          <a:p>
            <a:r>
              <a:rPr lang="en-IN" altLang="en-US" dirty="0"/>
              <a:t>d) 357</a:t>
            </a:r>
            <a:endParaRPr lang="en-I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The corrrect value of log</a:t>
            </a:r>
            <a:r>
              <a:rPr lang="en-IN" altLang="en-US" baseline="-25000" dirty="0"/>
              <a:t>25</a:t>
            </a:r>
            <a:r>
              <a:rPr lang="en-IN" altLang="en-US" dirty="0"/>
              <a:t>5- log</a:t>
            </a:r>
            <a:r>
              <a:rPr lang="en-IN" altLang="en-US" baseline="-25000" dirty="0"/>
              <a:t>49</a:t>
            </a:r>
            <a:r>
              <a:rPr lang="en-IN" altLang="en-US" dirty="0"/>
              <a:t>7 is</a:t>
            </a:r>
            <a:endParaRPr lang="en-IN" altLang="en-US" dirty="0"/>
          </a:p>
          <a:p>
            <a:r>
              <a:rPr lang="en-IN" altLang="en-US" dirty="0"/>
              <a:t>a) 1</a:t>
            </a:r>
            <a:endParaRPr lang="en-IN" altLang="en-US" dirty="0"/>
          </a:p>
          <a:p>
            <a:r>
              <a:rPr lang="en-IN" altLang="en-US" dirty="0"/>
              <a:t>b) 0</a:t>
            </a:r>
            <a:endParaRPr lang="en-IN" altLang="en-US" dirty="0"/>
          </a:p>
          <a:p>
            <a:r>
              <a:rPr lang="en-IN" altLang="en-US" dirty="0"/>
              <a:t>c) -1</a:t>
            </a:r>
            <a:endParaRPr lang="en-IN" altLang="en-US" dirty="0"/>
          </a:p>
          <a:p>
            <a:r>
              <a:rPr lang="en-IN" altLang="en-US" dirty="0"/>
              <a:t>d) 2</a:t>
            </a:r>
            <a:endParaRPr lang="en-I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The value of p in log</a:t>
            </a:r>
            <a:r>
              <a:rPr lang="en-IN" altLang="en-US" baseline="-25000" dirty="0"/>
              <a:t>p</a:t>
            </a:r>
            <a:r>
              <a:rPr lang="en-IN" altLang="en-US" dirty="0"/>
              <a:t> 25p = 2 is</a:t>
            </a:r>
            <a:endParaRPr lang="en-IN" altLang="en-US" dirty="0"/>
          </a:p>
          <a:p>
            <a:r>
              <a:rPr lang="en-IN" altLang="en-US" dirty="0"/>
              <a:t>a) 23</a:t>
            </a:r>
            <a:endParaRPr lang="en-IN" altLang="en-US" dirty="0"/>
          </a:p>
          <a:p>
            <a:r>
              <a:rPr lang="en-IN" altLang="en-US" dirty="0"/>
              <a:t>b) 24</a:t>
            </a:r>
            <a:endParaRPr lang="en-IN" altLang="en-US" dirty="0"/>
          </a:p>
          <a:p>
            <a:r>
              <a:rPr lang="en-IN" altLang="en-US" dirty="0"/>
              <a:t>c) 25</a:t>
            </a:r>
            <a:endParaRPr lang="en-IN" altLang="en-US" dirty="0"/>
          </a:p>
          <a:p>
            <a:r>
              <a:rPr lang="en-IN" altLang="en-US" dirty="0"/>
              <a:t>d) 26</a:t>
            </a:r>
            <a:endParaRPr lang="en-I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If LCM and HCF of two numbers are 162 and 9 respectively. Prime factors of the product of two numbers are ?</a:t>
            </a:r>
            <a:endParaRPr lang="en-IN" altLang="en-US" dirty="0"/>
          </a:p>
          <a:p>
            <a:r>
              <a:rPr lang="en-IN" altLang="en-US" dirty="0"/>
              <a:t>a) 3 and 7</a:t>
            </a:r>
            <a:endParaRPr lang="en-IN" altLang="en-US" dirty="0"/>
          </a:p>
          <a:p>
            <a:r>
              <a:rPr lang="en-IN" altLang="en-US" dirty="0"/>
              <a:t>b) 3 and 5</a:t>
            </a:r>
            <a:endParaRPr lang="en-IN" altLang="en-US" dirty="0"/>
          </a:p>
          <a:p>
            <a:r>
              <a:rPr lang="en-IN" altLang="en-US" dirty="0"/>
              <a:t>c) 2 and 5</a:t>
            </a:r>
            <a:endParaRPr lang="en-IN" altLang="en-US" dirty="0"/>
          </a:p>
          <a:p>
            <a:r>
              <a:rPr lang="en-IN" altLang="en-US" dirty="0"/>
              <a:t>d) 2 and 3</a:t>
            </a:r>
            <a:endParaRPr lang="en-I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Ratio between speeds of 2 trains is 5:3. If the first train runs 350 km in 2 hours.Then what is the speed of second train?</a:t>
            </a:r>
            <a:endParaRPr lang="en-IN" altLang="en-US" dirty="0"/>
          </a:p>
          <a:p>
            <a:r>
              <a:rPr lang="en-IN" altLang="en-US" dirty="0"/>
              <a:t>a) 105 kmph</a:t>
            </a:r>
            <a:endParaRPr lang="en-IN" altLang="en-US" dirty="0"/>
          </a:p>
          <a:p>
            <a:r>
              <a:rPr lang="en-IN" altLang="en-US" dirty="0"/>
              <a:t>b) 100 kmph</a:t>
            </a:r>
            <a:endParaRPr lang="en-IN" altLang="en-US" dirty="0"/>
          </a:p>
          <a:p>
            <a:r>
              <a:rPr lang="en-IN" altLang="en-US" dirty="0"/>
              <a:t>c) 210 kmph</a:t>
            </a:r>
            <a:endParaRPr lang="en-IN" altLang="en-US" dirty="0"/>
          </a:p>
          <a:p>
            <a:r>
              <a:rPr lang="en-IN" altLang="en-US" dirty="0"/>
              <a:t>d) 115 kmph</a:t>
            </a:r>
            <a:endParaRPr lang="en-I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A trend was observed in the growth of population in saya islands.The population tripled after every month.Initially, the population of saya islands was 100. What would be its population after 4 months ?</a:t>
            </a:r>
            <a:endParaRPr lang="en-IN" altLang="en-US" dirty="0"/>
          </a:p>
          <a:p>
            <a:r>
              <a:rPr lang="en-IN" altLang="en-US" dirty="0"/>
              <a:t>a) 100 * 3</a:t>
            </a:r>
            <a:r>
              <a:rPr lang="en-IN" altLang="en-US" baseline="30000" dirty="0"/>
              <a:t>4</a:t>
            </a:r>
            <a:endParaRPr lang="en-IN" altLang="en-US" dirty="0"/>
          </a:p>
          <a:p>
            <a:r>
              <a:rPr lang="en-IN" altLang="en-US" dirty="0"/>
              <a:t>b) 100 * 4</a:t>
            </a:r>
            <a:r>
              <a:rPr lang="en-IN" altLang="en-US" baseline="30000" dirty="0"/>
              <a:t>3</a:t>
            </a:r>
            <a:endParaRPr lang="en-IN" altLang="en-US" baseline="30000" dirty="0"/>
          </a:p>
          <a:p>
            <a:r>
              <a:rPr lang="en-IN" altLang="en-US" dirty="0"/>
              <a:t>c) 100*3*4</a:t>
            </a:r>
            <a:endParaRPr lang="en-IN" altLang="en-US" dirty="0"/>
          </a:p>
          <a:p>
            <a:r>
              <a:rPr lang="en-IN" altLang="en-US" dirty="0"/>
              <a:t>d) (100</a:t>
            </a:r>
            <a:r>
              <a:rPr lang="en-IN" altLang="en-US" baseline="30000" dirty="0"/>
              <a:t>3</a:t>
            </a:r>
            <a:r>
              <a:rPr lang="en-IN" altLang="en-US" dirty="0"/>
              <a:t>)</a:t>
            </a:r>
            <a:r>
              <a:rPr lang="en-IN" altLang="en-US" baseline="30000" dirty="0"/>
              <a:t>4</a:t>
            </a:r>
            <a:endParaRPr lang="en-IN" altLang="en-US" baseline="30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sz="2800" dirty="0"/>
              <a:t>If </a:t>
            </a:r>
            <a:r>
              <a:rPr lang="en-IN" altLang="en-US" sz="2800" dirty="0">
                <a:sym typeface="+mn-ea"/>
              </a:rPr>
              <a:t>log</a:t>
            </a:r>
            <a:r>
              <a:rPr lang="en-IN" altLang="en-US" sz="2800" baseline="-25000" dirty="0">
                <a:sym typeface="+mn-ea"/>
              </a:rPr>
              <a:t>(a+b</a:t>
            </a:r>
            <a:r>
              <a:rPr lang="en-IN" altLang="en-US" sz="2800" dirty="0">
                <a:sym typeface="+mn-ea"/>
              </a:rPr>
              <a:t>) (a-b)=1, then what is the value of</a:t>
            </a:r>
            <a:r>
              <a:rPr lang="en-IN" altLang="en-US" sz="2800" dirty="0"/>
              <a:t>     log</a:t>
            </a:r>
            <a:r>
              <a:rPr lang="en-IN" altLang="en-US" sz="2800" baseline="-25000" dirty="0"/>
              <a:t>(a+b) </a:t>
            </a:r>
            <a:r>
              <a:rPr lang="en-IN" altLang="en-US" sz="2800" dirty="0"/>
              <a:t>(a</a:t>
            </a:r>
            <a:r>
              <a:rPr lang="en-IN" altLang="en-US" sz="2800" baseline="30000" dirty="0"/>
              <a:t>2</a:t>
            </a:r>
            <a:r>
              <a:rPr lang="en-IN" altLang="en-US" sz="2800" dirty="0"/>
              <a:t>-b</a:t>
            </a:r>
            <a:r>
              <a:rPr lang="en-IN" altLang="en-US" sz="2800" baseline="30000" dirty="0"/>
              <a:t>2</a:t>
            </a:r>
            <a:r>
              <a:rPr lang="en-IN" altLang="en-US" sz="2800" dirty="0"/>
              <a:t>) ?</a:t>
            </a:r>
            <a:endParaRPr lang="en-IN" altLang="en-US" sz="2800" dirty="0"/>
          </a:p>
          <a:p>
            <a:r>
              <a:rPr lang="en-IN" altLang="en-US" sz="2800" dirty="0"/>
              <a:t>a)2</a:t>
            </a:r>
            <a:endParaRPr lang="en-IN" altLang="en-US" sz="2800" dirty="0"/>
          </a:p>
          <a:p>
            <a:r>
              <a:rPr lang="en-IN" altLang="en-US" sz="2800" dirty="0"/>
              <a:t>b) 1</a:t>
            </a:r>
            <a:endParaRPr lang="en-IN" altLang="en-US" sz="2800" dirty="0"/>
          </a:p>
          <a:p>
            <a:r>
              <a:rPr lang="en-IN" altLang="en-US" sz="2800" dirty="0"/>
              <a:t>c) -1</a:t>
            </a:r>
            <a:endParaRPr lang="en-IN" altLang="en-US" sz="2800" dirty="0"/>
          </a:p>
          <a:p>
            <a:r>
              <a:rPr lang="en-IN" altLang="en-US" sz="2800" dirty="0"/>
              <a:t>d) 0</a:t>
            </a:r>
            <a:endParaRPr lang="en-IN" alt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log</a:t>
            </a:r>
            <a:r>
              <a:rPr lang="en-IN" sz="2800" baseline="-25000" dirty="0"/>
              <a:t>4</a:t>
            </a:r>
            <a:r>
              <a:rPr lang="en-IN" sz="2800" dirty="0"/>
              <a:t> 2 + log</a:t>
            </a:r>
            <a:r>
              <a:rPr lang="en-IN" sz="2800" baseline="-25000" dirty="0"/>
              <a:t>4 </a:t>
            </a:r>
            <a:r>
              <a:rPr lang="en-IN" sz="2800" dirty="0"/>
              <a:t>32 is equal to </a:t>
            </a:r>
            <a:endParaRPr lang="en-IN" sz="2800" dirty="0"/>
          </a:p>
          <a:p>
            <a:r>
              <a:rPr lang="en-IN" sz="2800" dirty="0"/>
              <a:t>a) 5</a:t>
            </a:r>
            <a:endParaRPr lang="en-IN" sz="2800" dirty="0"/>
          </a:p>
          <a:p>
            <a:r>
              <a:rPr lang="en-IN" sz="2800" dirty="0"/>
              <a:t>b) 4</a:t>
            </a:r>
            <a:endParaRPr lang="en-IN" sz="2800" dirty="0"/>
          </a:p>
          <a:p>
            <a:r>
              <a:rPr lang="en-IN" sz="2800" dirty="0"/>
              <a:t>c) 2</a:t>
            </a:r>
            <a:endParaRPr lang="en-IN" sz="2800" dirty="0"/>
          </a:p>
          <a:p>
            <a:r>
              <a:rPr lang="en-IN" sz="2800" dirty="0"/>
              <a:t>d) 1</a:t>
            </a:r>
            <a:endParaRPr lang="en-IN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Sameer plants 7225 plants, so that there are as many rows as there are trees in a row. how many trees are there in a row ?</a:t>
            </a:r>
            <a:endParaRPr lang="en-IN" dirty="0"/>
          </a:p>
          <a:p>
            <a:r>
              <a:rPr lang="en-IN" dirty="0"/>
              <a:t>a) 95</a:t>
            </a:r>
            <a:endParaRPr lang="en-IN" dirty="0"/>
          </a:p>
          <a:p>
            <a:r>
              <a:rPr lang="en-IN" dirty="0"/>
              <a:t>b) 85</a:t>
            </a:r>
            <a:endParaRPr lang="en-IN" dirty="0"/>
          </a:p>
          <a:p>
            <a:r>
              <a:rPr lang="en-IN" dirty="0"/>
              <a:t>c) 75</a:t>
            </a:r>
            <a:endParaRPr lang="en-IN" dirty="0"/>
          </a:p>
          <a:p>
            <a:r>
              <a:rPr lang="en-IN" dirty="0"/>
              <a:t>d) 65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If sum of two numbers is 27 anf their HCF and LCM are 3 and 60 respectively.Then the sum of the reciprocal of the two numbers is ?</a:t>
            </a:r>
            <a:endParaRPr lang="en-IN" sz="2800" dirty="0"/>
          </a:p>
          <a:p>
            <a:r>
              <a:rPr lang="en-IN" sz="2800" dirty="0"/>
              <a:t>a) 1/5</a:t>
            </a:r>
            <a:endParaRPr lang="en-IN" sz="2800" dirty="0"/>
          </a:p>
          <a:p>
            <a:r>
              <a:rPr lang="en-IN" sz="2800" dirty="0"/>
              <a:t>b) 3/10</a:t>
            </a:r>
            <a:endParaRPr lang="en-IN" sz="2800" dirty="0"/>
          </a:p>
          <a:p>
            <a:r>
              <a:rPr lang="en-IN" sz="2800" dirty="0"/>
              <a:t>c) 1/10</a:t>
            </a:r>
            <a:endParaRPr lang="en-IN" sz="2800" dirty="0"/>
          </a:p>
          <a:p>
            <a:r>
              <a:rPr lang="en-IN" sz="2800" dirty="0"/>
              <a:t>d) 3/20</a:t>
            </a:r>
            <a:endParaRPr lang="en-IN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altLang="en-US" dirty="0"/>
              <a:t>What is the least numebr by which 1570 must be divided to get a number which is a perfect square ?</a:t>
            </a:r>
            <a:endParaRPr lang="en-IN" altLang="en-US" dirty="0"/>
          </a:p>
          <a:p>
            <a:r>
              <a:rPr lang="en-IN" altLang="en-US" dirty="0"/>
              <a:t>a) 35</a:t>
            </a:r>
            <a:endParaRPr lang="en-IN" altLang="en-US" dirty="0"/>
          </a:p>
          <a:p>
            <a:r>
              <a:rPr lang="en-IN" altLang="en-US" dirty="0"/>
              <a:t>b) 7</a:t>
            </a:r>
            <a:endParaRPr lang="en-IN" altLang="en-US" dirty="0"/>
          </a:p>
          <a:p>
            <a:r>
              <a:rPr lang="en-IN" altLang="en-US" dirty="0"/>
              <a:t>c) 42</a:t>
            </a:r>
            <a:endParaRPr lang="en-IN" altLang="en-US" dirty="0"/>
          </a:p>
          <a:p>
            <a:r>
              <a:rPr lang="en-IN" altLang="en-US" dirty="0"/>
              <a:t>d) 30</a:t>
            </a:r>
            <a:endParaRPr lang="en-I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The LCM of two numbers is 35322.If the numebrs are in the ratio 1:3. Then Their HCF is</a:t>
            </a:r>
            <a:endParaRPr lang="en-IN" altLang="en-US" dirty="0"/>
          </a:p>
          <a:p>
            <a:r>
              <a:rPr lang="en-IN" altLang="en-US" dirty="0"/>
              <a:t>a) 35322</a:t>
            </a:r>
            <a:endParaRPr lang="en-IN" altLang="en-US" dirty="0"/>
          </a:p>
          <a:p>
            <a:r>
              <a:rPr lang="en-IN" altLang="en-US" dirty="0"/>
              <a:t>b) 23542</a:t>
            </a:r>
            <a:endParaRPr lang="en-IN" altLang="en-US" dirty="0"/>
          </a:p>
          <a:p>
            <a:r>
              <a:rPr lang="en-IN" altLang="en-US" dirty="0"/>
              <a:t>c) 11774</a:t>
            </a:r>
            <a:endParaRPr lang="en-IN" altLang="en-US" dirty="0"/>
          </a:p>
          <a:p>
            <a:r>
              <a:rPr lang="en-IN" altLang="en-US" dirty="0"/>
              <a:t>d) 58870</a:t>
            </a:r>
            <a:endParaRPr lang="en-I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log</a:t>
            </a:r>
            <a:r>
              <a:rPr lang="en-IN" altLang="en-US" baseline="-25000"/>
              <a:t>4 </a:t>
            </a:r>
            <a:r>
              <a:rPr lang="en-IN" altLang="en-US"/>
              <a:t>16 + log</a:t>
            </a:r>
            <a:r>
              <a:rPr lang="en-IN" altLang="en-US" baseline="-25000"/>
              <a:t>4</a:t>
            </a:r>
            <a:r>
              <a:rPr lang="en-IN" altLang="en-US"/>
              <a:t> 32 - 3log</a:t>
            </a:r>
            <a:r>
              <a:rPr lang="en-IN" altLang="en-US" baseline="-25000"/>
              <a:t>sqt16 </a:t>
            </a:r>
            <a:r>
              <a:rPr lang="en-IN" altLang="en-US"/>
              <a:t>2 = x the solve for x </a:t>
            </a:r>
            <a:endParaRPr lang="en-IN" altLang="en-US"/>
          </a:p>
          <a:p>
            <a:r>
              <a:rPr lang="en-IN" altLang="en-US"/>
              <a:t>a) x=4</a:t>
            </a:r>
            <a:endParaRPr lang="en-IN" altLang="en-US"/>
          </a:p>
          <a:p>
            <a:r>
              <a:rPr lang="en-IN" altLang="en-US"/>
              <a:t>b) x=5</a:t>
            </a:r>
            <a:endParaRPr lang="en-IN" altLang="en-US"/>
          </a:p>
          <a:p>
            <a:r>
              <a:rPr lang="en-IN" altLang="en-US"/>
              <a:t>c) x= 4</a:t>
            </a:r>
            <a:r>
              <a:rPr lang="en-IN" altLang="en-US" baseline="30000"/>
              <a:t>5</a:t>
            </a:r>
            <a:endParaRPr lang="en-IN" altLang="en-US"/>
          </a:p>
          <a:p>
            <a:r>
              <a:rPr lang="en-IN" altLang="en-US"/>
              <a:t>d) x= 2</a:t>
            </a:r>
            <a:r>
              <a:rPr lang="en-IN" altLang="en-US" baseline="30000"/>
              <a:t>3</a:t>
            </a:r>
            <a:endParaRPr lang="en-IN" altLang="en-US" baseline="30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IN" altLang="en-US"/>
                  <a:t>What is the value of log</a:t>
                </a:r>
                <a:r>
                  <a:rPr lang="en-IN" altLang="en-US" baseline="-25000"/>
                  <a:t>sqt6</a:t>
                </a:r>
                <a:r>
                  <a:rPr lang="en-IN" altLang="en-US"/>
                  <a:t> 1296 ?</a:t>
                </a:r>
                <a:endParaRPr lang="en-IN" altLang="en-US"/>
              </a:p>
              <a:p>
                <a:r>
                  <a:rPr lang="en-IN" altLang="en-US"/>
                  <a:t>a) 6</a:t>
                </a:r>
                <a:endParaRPr lang="en-IN" altLang="en-US"/>
              </a:p>
              <a:p>
                <a:r>
                  <a:rPr lang="en-IN" altLang="en-US"/>
                  <a:t>b) 8</a:t>
                </a:r>
                <a:endParaRPr lang="en-IN" altLang="en-US"/>
              </a:p>
              <a:p>
                <a:r>
                  <a:rPr lang="en-IN" altLang="en-US"/>
                  <a:t>c) 4</a:t>
                </a:r>
                <a:endParaRPr lang="en-IN" altLang="en-US"/>
              </a:p>
              <a:p>
                <a:r>
                  <a:rPr lang="en-IN" altLang="en-US"/>
                  <a:t>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en-I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r>
                          <a:rPr lang="en-US" altLang="en-I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6</m:t>
                        </m:r>
                      </m:e>
                    </m:rad>
                  </m:oMath>
                </a14:m>
                <a:endParaRPr lang="en-IN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t="-11" r="1" b="1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the GCD of x</a:t>
            </a:r>
            <a:r>
              <a:rPr lang="en-IN" altLang="en-US" baseline="30000"/>
              <a:t>2 </a:t>
            </a:r>
            <a:r>
              <a:rPr lang="en-IN" altLang="en-US"/>
              <a:t>- (p-1) and x</a:t>
            </a:r>
            <a:r>
              <a:rPr lang="en-IN" altLang="en-US" baseline="30000"/>
              <a:t>2</a:t>
            </a:r>
            <a:r>
              <a:rPr lang="en-IN" altLang="en-US"/>
              <a:t>-px+(p-1) is x-1 then the value of p is</a:t>
            </a:r>
            <a:endParaRPr lang="en-IN" altLang="en-US"/>
          </a:p>
          <a:p>
            <a:r>
              <a:rPr lang="en-IN" altLang="en-US"/>
              <a:t>a) -1</a:t>
            </a:r>
            <a:endParaRPr lang="en-IN" altLang="en-US"/>
          </a:p>
          <a:p>
            <a:r>
              <a:rPr lang="en-IN" altLang="en-US"/>
              <a:t>b) 1</a:t>
            </a:r>
            <a:endParaRPr lang="en-IN" altLang="en-US"/>
          </a:p>
          <a:p>
            <a:r>
              <a:rPr lang="en-IN" altLang="en-US"/>
              <a:t>c) -2</a:t>
            </a:r>
            <a:endParaRPr lang="en-IN" altLang="en-US"/>
          </a:p>
          <a:p>
            <a:r>
              <a:rPr lang="en-IN" altLang="en-US"/>
              <a:t>d) 2</a:t>
            </a:r>
            <a:endParaRPr lang="en-I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A bag contains 6 blue balls and 3 green balls and a box conains 4 blue balls and 5 green balls. Find the probability that a ball randomely selected from either of them is a blue ball.</a:t>
            </a:r>
            <a:endParaRPr lang="en-IN" altLang="en-US"/>
          </a:p>
          <a:p>
            <a:r>
              <a:rPr lang="en-IN" altLang="en-US"/>
              <a:t>a) 1/3</a:t>
            </a:r>
            <a:endParaRPr lang="en-IN" altLang="en-US"/>
          </a:p>
          <a:p>
            <a:r>
              <a:rPr lang="en-IN" altLang="en-US"/>
              <a:t>b) 2/9</a:t>
            </a:r>
            <a:endParaRPr lang="en-IN" altLang="en-US"/>
          </a:p>
          <a:p>
            <a:r>
              <a:rPr lang="en-IN" altLang="en-US"/>
              <a:t>c) 5/9</a:t>
            </a:r>
            <a:endParaRPr lang="en-IN" altLang="en-US"/>
          </a:p>
          <a:p>
            <a:r>
              <a:rPr lang="en-IN" altLang="en-US"/>
              <a:t>d) 5/18 </a:t>
            </a:r>
            <a:endParaRPr lang="en-I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Both Shruthi and pooja randomly choose a colour from red, orange and yellow. What is the probability that both choose orange ?</a:t>
            </a:r>
            <a:endParaRPr lang="en-IN" altLang="en-US"/>
          </a:p>
          <a:p>
            <a:r>
              <a:rPr lang="en-IN" altLang="en-US"/>
              <a:t>a) 1 /9</a:t>
            </a:r>
            <a:endParaRPr lang="en-IN" altLang="en-US"/>
          </a:p>
          <a:p>
            <a:r>
              <a:rPr lang="en-IN" altLang="en-US"/>
              <a:t>b) 1/6</a:t>
            </a:r>
            <a:endParaRPr lang="en-IN" altLang="en-US"/>
          </a:p>
          <a:p>
            <a:r>
              <a:rPr lang="en-IN" altLang="en-US"/>
              <a:t>c) 1/3</a:t>
            </a:r>
            <a:endParaRPr lang="en-IN" altLang="en-US"/>
          </a:p>
          <a:p>
            <a:r>
              <a:rPr lang="en-IN" altLang="en-US"/>
              <a:t>d) 2/3</a:t>
            </a:r>
            <a:endParaRPr lang="en-I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The HCF of two numbers is 16.Which of the following is can never be their  LCM?</a:t>
            </a:r>
            <a:endParaRPr lang="en-IN" altLang="en-US"/>
          </a:p>
          <a:p>
            <a:endParaRPr lang="en-IN" altLang="en-US"/>
          </a:p>
          <a:p>
            <a:r>
              <a:rPr lang="en-IN" altLang="en-US"/>
              <a:t>a) 64</a:t>
            </a:r>
            <a:endParaRPr lang="en-IN" altLang="en-US"/>
          </a:p>
          <a:p>
            <a:r>
              <a:rPr lang="en-IN" altLang="en-US"/>
              <a:t>b)  78</a:t>
            </a:r>
            <a:endParaRPr lang="en-IN" altLang="en-US"/>
          </a:p>
          <a:p>
            <a:r>
              <a:rPr lang="en-IN" altLang="en-US"/>
              <a:t>c) 112</a:t>
            </a:r>
            <a:endParaRPr lang="en-IN" altLang="en-US"/>
          </a:p>
          <a:p>
            <a:r>
              <a:rPr lang="en-IN" altLang="en-US"/>
              <a:t>d) 128</a:t>
            </a:r>
            <a:endParaRPr lang="en-I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The LCM aof 2</a:t>
            </a:r>
            <a:r>
              <a:rPr lang="en-IN" altLang="en-US" baseline="30000"/>
              <a:t>6</a:t>
            </a:r>
            <a:r>
              <a:rPr lang="en-IN" altLang="en-US"/>
              <a:t> x 3</a:t>
            </a:r>
            <a:r>
              <a:rPr lang="en-IN" altLang="en-US" baseline="30000"/>
              <a:t>2</a:t>
            </a:r>
            <a:r>
              <a:rPr lang="en-IN" altLang="en-US"/>
              <a:t> x 5 x 7 , 2</a:t>
            </a:r>
            <a:r>
              <a:rPr lang="en-IN" altLang="en-US" baseline="30000"/>
              <a:t>3 </a:t>
            </a:r>
            <a:r>
              <a:rPr lang="en-IN" altLang="en-US"/>
              <a:t>x 3</a:t>
            </a:r>
            <a:r>
              <a:rPr lang="en-IN" altLang="en-US" baseline="30000"/>
              <a:t>5 </a:t>
            </a:r>
            <a:r>
              <a:rPr lang="en-IN" altLang="en-US"/>
              <a:t>x 7 and 2 x 3</a:t>
            </a:r>
            <a:r>
              <a:rPr lang="en-IN" altLang="en-US" baseline="30000"/>
              <a:t>4 </a:t>
            </a:r>
            <a:r>
              <a:rPr lang="en-IN" altLang="en-US"/>
              <a:t>x 5 is </a:t>
            </a:r>
            <a:endParaRPr lang="en-IN" altLang="en-US"/>
          </a:p>
          <a:p>
            <a:r>
              <a:rPr lang="en-IN" altLang="en-US"/>
              <a:t>a) 2</a:t>
            </a:r>
            <a:r>
              <a:rPr lang="en-IN" altLang="en-US" baseline="30000"/>
              <a:t>6 </a:t>
            </a:r>
            <a:r>
              <a:rPr lang="en-IN" altLang="en-US"/>
              <a:t>x 3</a:t>
            </a:r>
            <a:r>
              <a:rPr lang="en-IN" altLang="en-US" baseline="30000"/>
              <a:t>5</a:t>
            </a:r>
            <a:endParaRPr lang="en-IN" altLang="en-US"/>
          </a:p>
          <a:p>
            <a:r>
              <a:rPr lang="en-IN" altLang="en-US"/>
              <a:t>b) </a:t>
            </a:r>
            <a:r>
              <a:rPr lang="en-IN" altLang="en-US">
                <a:sym typeface="+mn-ea"/>
              </a:rPr>
              <a:t>2</a:t>
            </a:r>
            <a:r>
              <a:rPr lang="en-IN" altLang="en-US" baseline="30000">
                <a:sym typeface="+mn-ea"/>
              </a:rPr>
              <a:t>6 </a:t>
            </a:r>
            <a:r>
              <a:rPr lang="en-IN" altLang="en-US">
                <a:sym typeface="+mn-ea"/>
              </a:rPr>
              <a:t>x 3</a:t>
            </a:r>
            <a:r>
              <a:rPr lang="en-IN" altLang="en-US" baseline="30000">
                <a:sym typeface="+mn-ea"/>
              </a:rPr>
              <a:t>5</a:t>
            </a:r>
            <a:r>
              <a:rPr lang="en-IN" altLang="en-US">
                <a:sym typeface="+mn-ea"/>
              </a:rPr>
              <a:t> x 5</a:t>
            </a:r>
            <a:endParaRPr lang="en-IN" altLang="en-US">
              <a:sym typeface="+mn-ea"/>
            </a:endParaRPr>
          </a:p>
          <a:p>
            <a:r>
              <a:rPr lang="en-IN" altLang="en-US">
                <a:sym typeface="+mn-ea"/>
              </a:rPr>
              <a:t>c) </a:t>
            </a:r>
            <a:r>
              <a:rPr lang="en-IN" altLang="en-US">
                <a:sym typeface="+mn-ea"/>
              </a:rPr>
              <a:t>2</a:t>
            </a:r>
            <a:r>
              <a:rPr lang="en-IN" altLang="en-US" baseline="30000">
                <a:sym typeface="+mn-ea"/>
              </a:rPr>
              <a:t>6 </a:t>
            </a:r>
            <a:r>
              <a:rPr lang="en-IN" altLang="en-US">
                <a:sym typeface="+mn-ea"/>
              </a:rPr>
              <a:t>x 3</a:t>
            </a:r>
            <a:r>
              <a:rPr lang="en-IN" altLang="en-US" baseline="30000">
                <a:sym typeface="+mn-ea"/>
              </a:rPr>
              <a:t>5</a:t>
            </a:r>
            <a:r>
              <a:rPr lang="en-IN" altLang="en-US">
                <a:sym typeface="+mn-ea"/>
              </a:rPr>
              <a:t> x 7</a:t>
            </a:r>
            <a:endParaRPr lang="en-IN" altLang="en-US">
              <a:sym typeface="+mn-ea"/>
            </a:endParaRPr>
          </a:p>
          <a:p>
            <a:r>
              <a:rPr lang="en-IN" altLang="en-US">
                <a:sym typeface="+mn-ea"/>
              </a:rPr>
              <a:t>d) 2</a:t>
            </a:r>
            <a:r>
              <a:rPr lang="en-IN" altLang="en-US" baseline="30000">
                <a:sym typeface="+mn-ea"/>
              </a:rPr>
              <a:t>6 </a:t>
            </a:r>
            <a:r>
              <a:rPr lang="en-IN" altLang="en-US">
                <a:sym typeface="+mn-ea"/>
              </a:rPr>
              <a:t>x 3</a:t>
            </a:r>
            <a:r>
              <a:rPr lang="en-IN" altLang="en-US" baseline="30000">
                <a:sym typeface="+mn-ea"/>
              </a:rPr>
              <a:t>5</a:t>
            </a:r>
            <a:r>
              <a:rPr lang="en-IN" altLang="en-US">
                <a:sym typeface="+mn-ea"/>
              </a:rPr>
              <a:t> x 5 x 7</a:t>
            </a:r>
            <a:endParaRPr lang="en-IN" altLang="en-US">
              <a:sym typeface="+mn-ea"/>
            </a:endParaRPr>
          </a:p>
          <a:p>
            <a:endParaRPr lang="en-IN" altLang="en-US">
              <a:sym typeface="+mn-ea"/>
            </a:endParaRPr>
          </a:p>
          <a:p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Which number is divisible by 11?</a:t>
            </a:r>
            <a:endParaRPr lang="en-IN" altLang="en-US"/>
          </a:p>
          <a:p>
            <a:r>
              <a:rPr lang="en-IN" altLang="en-US"/>
              <a:t>a) 2118</a:t>
            </a:r>
            <a:endParaRPr lang="en-IN" altLang="en-US"/>
          </a:p>
          <a:p>
            <a:r>
              <a:rPr lang="en-IN" altLang="en-US"/>
              <a:t>b) 216</a:t>
            </a:r>
            <a:endParaRPr lang="en-IN" altLang="en-US"/>
          </a:p>
          <a:p>
            <a:r>
              <a:rPr lang="en-IN" altLang="en-US"/>
              <a:t>c) 2114</a:t>
            </a:r>
            <a:endParaRPr lang="en-IN" altLang="en-US"/>
          </a:p>
          <a:p>
            <a:r>
              <a:rPr lang="en-IN" altLang="en-US"/>
              <a:t>d) 2112</a:t>
            </a:r>
            <a:endParaRPr lang="en-I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Simplify (3/7 + 22 4/7 -2/8 divided by 1/4)</a:t>
            </a:r>
            <a:endParaRPr lang="en-IN" altLang="en-US"/>
          </a:p>
          <a:p>
            <a:r>
              <a:rPr lang="en-IN" altLang="en-US"/>
              <a:t>a) 21</a:t>
            </a:r>
            <a:endParaRPr lang="en-IN" altLang="en-US"/>
          </a:p>
          <a:p>
            <a:r>
              <a:rPr lang="en-IN" altLang="en-US"/>
              <a:t>b) 3 2/7</a:t>
            </a:r>
            <a:endParaRPr lang="en-IN" altLang="en-US"/>
          </a:p>
          <a:p>
            <a:r>
              <a:rPr lang="en-IN" altLang="en-US"/>
              <a:t>c) 22</a:t>
            </a:r>
            <a:endParaRPr lang="en-IN" altLang="en-US"/>
          </a:p>
          <a:p>
            <a:r>
              <a:rPr lang="en-IN" altLang="en-US"/>
              <a:t>d) 3 3/7</a:t>
            </a:r>
            <a:endParaRPr lang="en-I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(17</a:t>
            </a:r>
            <a:r>
              <a:rPr lang="en-IN" altLang="en-US" baseline="30000"/>
              <a:t>3 </a:t>
            </a:r>
            <a:r>
              <a:rPr lang="en-IN" altLang="en-US"/>
              <a:t>* 17</a:t>
            </a:r>
            <a:r>
              <a:rPr lang="en-IN" altLang="en-US" baseline="30000"/>
              <a:t>5/2</a:t>
            </a:r>
            <a:r>
              <a:rPr lang="en-IN" altLang="en-US"/>
              <a:t> * (17</a:t>
            </a:r>
            <a:r>
              <a:rPr lang="en-IN" altLang="en-US" baseline="30000"/>
              <a:t>3</a:t>
            </a:r>
            <a:r>
              <a:rPr lang="en-IN" altLang="en-US"/>
              <a:t>)</a:t>
            </a:r>
            <a:r>
              <a:rPr lang="en-IN" altLang="en-US" baseline="30000"/>
              <a:t>3/2</a:t>
            </a:r>
            <a:r>
              <a:rPr lang="en-IN" altLang="en-US"/>
              <a:t>) * (17</a:t>
            </a:r>
            <a:r>
              <a:rPr lang="en-IN" altLang="en-US" baseline="30000"/>
              <a:t>10/7 </a:t>
            </a:r>
            <a:r>
              <a:rPr lang="en-IN" altLang="en-US"/>
              <a:t>* (17</a:t>
            </a:r>
            <a:r>
              <a:rPr lang="en-IN" altLang="en-US" baseline="30000"/>
              <a:t>5</a:t>
            </a:r>
            <a:r>
              <a:rPr lang="en-IN" altLang="en-US"/>
              <a:t>)</a:t>
            </a:r>
            <a:r>
              <a:rPr lang="en-IN" altLang="en-US" baseline="30000"/>
              <a:t>3/35</a:t>
            </a:r>
            <a:r>
              <a:rPr lang="en-IN" altLang="en-US"/>
              <a:t> * (17</a:t>
            </a:r>
            <a:r>
              <a:rPr lang="en-IN" altLang="en-US" baseline="30000"/>
              <a:t>6</a:t>
            </a:r>
            <a:r>
              <a:rPr lang="en-IN" altLang="en-US"/>
              <a:t>)</a:t>
            </a:r>
            <a:r>
              <a:rPr lang="en-IN" altLang="en-US" baseline="30000"/>
              <a:t>1/7</a:t>
            </a:r>
            <a:r>
              <a:rPr lang="en-IN" altLang="en-US"/>
              <a:t>)</a:t>
            </a:r>
            <a:r>
              <a:rPr lang="en-IN" altLang="en-US" baseline="30000"/>
              <a:t>-1</a:t>
            </a:r>
            <a:endParaRPr lang="en-IN" altLang="en-US"/>
          </a:p>
          <a:p>
            <a:r>
              <a:rPr lang="en-IN" altLang="en-US"/>
              <a:t>a) 175</a:t>
            </a:r>
            <a:endParaRPr lang="en-IN" altLang="en-US"/>
          </a:p>
          <a:p>
            <a:r>
              <a:rPr lang="en-IN" altLang="en-US"/>
              <a:t>b) 1712</a:t>
            </a:r>
            <a:endParaRPr lang="en-IN" altLang="en-US"/>
          </a:p>
          <a:p>
            <a:r>
              <a:rPr lang="en-IN" altLang="en-US"/>
              <a:t>c) 1</a:t>
            </a:r>
            <a:endParaRPr lang="en-IN" altLang="en-US"/>
          </a:p>
          <a:p>
            <a:r>
              <a:rPr lang="en-IN" altLang="en-US"/>
              <a:t>d) 17</a:t>
            </a:r>
            <a:r>
              <a:rPr lang="en-IN" altLang="en-US" baseline="30000"/>
              <a:t>43/7</a:t>
            </a:r>
            <a:endParaRPr lang="en-IN" altLang="en-US"/>
          </a:p>
          <a:p>
            <a:r>
              <a:rPr lang="en-IN" altLang="en-US"/>
              <a:t>d) 17</a:t>
            </a:r>
            <a:r>
              <a:rPr lang="en-IN" altLang="en-US" baseline="30000"/>
              <a:t>51/7</a:t>
            </a:r>
            <a:endParaRPr lang="en-IN" altLang="en-US" baseline="30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A started a buisness with Rs. 270000 and was joined by B three month afterwards.How much money  did B invest if the profit share of A at the end of the year was three- fifth of the total profit ?</a:t>
            </a:r>
            <a:endParaRPr lang="en-IN" altLang="en-US"/>
          </a:p>
          <a:p>
            <a:r>
              <a:rPr lang="en-IN" altLang="en-US"/>
              <a:t>a) 270000</a:t>
            </a:r>
            <a:endParaRPr lang="en-IN" altLang="en-US"/>
          </a:p>
          <a:p>
            <a:r>
              <a:rPr lang="en-IN" altLang="en-US"/>
              <a:t>b) 100000</a:t>
            </a:r>
            <a:endParaRPr lang="en-IN" altLang="en-US"/>
          </a:p>
          <a:p>
            <a:r>
              <a:rPr lang="en-IN" altLang="en-US"/>
              <a:t>c) 280000</a:t>
            </a:r>
            <a:endParaRPr lang="en-IN" altLang="en-US"/>
          </a:p>
          <a:p>
            <a:r>
              <a:rPr lang="en-IN" altLang="en-US"/>
              <a:t>d) 240000  </a:t>
            </a:r>
            <a:endParaRPr lang="en-I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The HCF of 2</a:t>
            </a:r>
            <a:r>
              <a:rPr lang="en-IN" altLang="en-US" baseline="30000"/>
              <a:t>3</a:t>
            </a:r>
            <a:r>
              <a:rPr lang="en-IN" altLang="en-US"/>
              <a:t>x 3</a:t>
            </a:r>
            <a:r>
              <a:rPr lang="en-IN" altLang="en-US" baseline="30000"/>
              <a:t>2</a:t>
            </a:r>
            <a:r>
              <a:rPr lang="en-IN" altLang="en-US"/>
              <a:t> x 5</a:t>
            </a:r>
            <a:r>
              <a:rPr lang="en-IN" altLang="en-US" baseline="30000"/>
              <a:t>4</a:t>
            </a:r>
            <a:r>
              <a:rPr lang="en-IN" altLang="en-US"/>
              <a:t> x 7 x 11,2</a:t>
            </a:r>
            <a:r>
              <a:rPr lang="en-IN" altLang="en-US" baseline="30000"/>
              <a:t>2 </a:t>
            </a:r>
            <a:r>
              <a:rPr lang="en-IN" altLang="en-US"/>
              <a:t>x 3</a:t>
            </a:r>
            <a:r>
              <a:rPr lang="en-IN" altLang="en-US" baseline="30000"/>
              <a:t>2 </a:t>
            </a:r>
            <a:r>
              <a:rPr lang="en-IN" altLang="en-US"/>
              <a:t>x 7</a:t>
            </a:r>
            <a:r>
              <a:rPr lang="en-IN" altLang="en-US" baseline="30000"/>
              <a:t>2</a:t>
            </a:r>
            <a:r>
              <a:rPr lang="en-IN" altLang="en-US"/>
              <a:t> x 11 and 2</a:t>
            </a:r>
            <a:r>
              <a:rPr lang="en-IN" altLang="en-US" baseline="30000"/>
              <a:t>4</a:t>
            </a:r>
            <a:r>
              <a:rPr lang="en-IN" altLang="en-US"/>
              <a:t> x 5</a:t>
            </a:r>
            <a:r>
              <a:rPr lang="en-IN" altLang="en-US" baseline="30000"/>
              <a:t>2</a:t>
            </a:r>
            <a:r>
              <a:rPr lang="en-IN" altLang="en-US"/>
              <a:t> x 11 is </a:t>
            </a:r>
            <a:endParaRPr lang="en-I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The number of 6 digit even numbers that can be made from the number 214635 are</a:t>
            </a:r>
            <a:endParaRPr lang="en-IN" altLang="en-US"/>
          </a:p>
          <a:p>
            <a:r>
              <a:rPr lang="en-IN" altLang="en-US"/>
              <a:t>a) 72</a:t>
            </a:r>
            <a:endParaRPr lang="en-IN" altLang="en-US"/>
          </a:p>
          <a:p>
            <a:r>
              <a:rPr lang="en-IN" altLang="en-US"/>
              <a:t>b) 360</a:t>
            </a:r>
            <a:endParaRPr lang="en-IN" altLang="en-US"/>
          </a:p>
          <a:p>
            <a:r>
              <a:rPr lang="en-IN" altLang="en-US"/>
              <a:t>c) 120</a:t>
            </a:r>
            <a:endParaRPr lang="en-IN" altLang="en-US"/>
          </a:p>
          <a:p>
            <a:r>
              <a:rPr lang="en-IN" altLang="en-US"/>
              <a:t>d) 18</a:t>
            </a:r>
            <a:endParaRPr lang="en-I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If LCM and HCF of two numbers are 294  and 49 respectively , product of two numbers can be expressed as ?</a:t>
            </a:r>
            <a:endParaRPr lang="en-I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population of a village is eight thousand. If 6 % men and 10% women are added. Population becomes 8600 then the number of men in the village was ?</a:t>
            </a:r>
            <a:endParaRPr lang="en-IN" altLang="en-US"/>
          </a:p>
          <a:p>
            <a:r>
              <a:rPr lang="en-IN" altLang="en-US"/>
              <a:t>a) 5000 </a:t>
            </a:r>
            <a:endParaRPr lang="en-IN" altLang="en-US"/>
          </a:p>
          <a:p>
            <a:r>
              <a:rPr lang="en-IN" altLang="en-US"/>
              <a:t>b) 5060</a:t>
            </a:r>
            <a:endParaRPr lang="en-IN" altLang="en-US"/>
          </a:p>
          <a:p>
            <a:r>
              <a:rPr lang="en-IN" altLang="en-US"/>
              <a:t>c) 4800</a:t>
            </a:r>
            <a:endParaRPr lang="en-IN" altLang="en-US"/>
          </a:p>
          <a:p>
            <a:r>
              <a:rPr lang="en-IN" altLang="en-US"/>
              <a:t>d) 6000 </a:t>
            </a:r>
            <a:endParaRPr lang="en-I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 A box contains 5 red , 4 white and 3 green balls.In how many ways can 3 balls be drawn from the box without replacement, so that least 2 of them are green?</a:t>
            </a:r>
            <a:endParaRPr lang="en-IN" altLang="en-US"/>
          </a:p>
          <a:p>
            <a:r>
              <a:rPr lang="en-IN" altLang="en-US"/>
              <a:t>a) 18</a:t>
            </a:r>
            <a:endParaRPr lang="en-IN" altLang="en-US"/>
          </a:p>
          <a:p>
            <a:r>
              <a:rPr lang="en-IN" altLang="en-US"/>
              <a:t>b) 30 </a:t>
            </a:r>
            <a:endParaRPr lang="en-IN" altLang="en-US"/>
          </a:p>
          <a:p>
            <a:r>
              <a:rPr lang="en-IN" altLang="en-US"/>
              <a:t>c) 27</a:t>
            </a:r>
            <a:endParaRPr lang="en-IN" altLang="en-US"/>
          </a:p>
          <a:p>
            <a:r>
              <a:rPr lang="en-IN" altLang="en-US"/>
              <a:t>d) 9</a:t>
            </a:r>
            <a:endParaRPr lang="en-IN" altLang="en-US"/>
          </a:p>
          <a:p>
            <a:r>
              <a:rPr lang="en-IN" altLang="en-US"/>
              <a:t>e) 28</a:t>
            </a:r>
            <a:endParaRPr lang="en-I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In how many ways can seven similar gifts be distributed to 7clients of a company such that each gets one gift</a:t>
            </a:r>
            <a:endParaRPr lang="en-IN" altLang="en-US"/>
          </a:p>
          <a:p>
            <a:r>
              <a:rPr lang="en-IN" altLang="en-US"/>
              <a:t>a) 7C6</a:t>
            </a:r>
            <a:endParaRPr lang="en-IN" altLang="en-US"/>
          </a:p>
          <a:p>
            <a:r>
              <a:rPr lang="en-IN" altLang="en-US"/>
              <a:t>b) 7P0</a:t>
            </a:r>
            <a:endParaRPr lang="en-IN" altLang="en-US"/>
          </a:p>
          <a:p>
            <a:r>
              <a:rPr lang="en-IN" altLang="en-US"/>
              <a:t>c) 7</a:t>
            </a:r>
            <a:endParaRPr lang="en-IN" altLang="en-US"/>
          </a:p>
          <a:p>
            <a:r>
              <a:rPr lang="en-IN" altLang="en-US"/>
              <a:t>d) 7P7  </a:t>
            </a:r>
            <a:endParaRPr lang="en-I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Find n if (2</a:t>
            </a:r>
            <a:r>
              <a:rPr lang="en-IN" altLang="en-US" baseline="30000"/>
              <a:t>228</a:t>
            </a:r>
            <a:r>
              <a:rPr lang="en-IN" altLang="en-US"/>
              <a:t>/2</a:t>
            </a:r>
            <a:r>
              <a:rPr lang="en-IN" altLang="en-US" baseline="30000"/>
              <a:t>n </a:t>
            </a:r>
            <a:r>
              <a:rPr lang="en-IN" altLang="en-US"/>
              <a:t>) =512</a:t>
            </a:r>
            <a:endParaRPr lang="en-I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Compound interest for a certain amount at 13 % p.a for 2 years exceeds the interest on the same amount at 12% p.a for 2 years by 225. Principal amount is </a:t>
            </a:r>
            <a:endParaRPr lang="en-IN" altLang="en-US"/>
          </a:p>
          <a:p>
            <a:r>
              <a:rPr lang="en-IN" altLang="en-US"/>
              <a:t>a) Rs.15000</a:t>
            </a:r>
            <a:endParaRPr lang="en-IN" altLang="en-US"/>
          </a:p>
          <a:p>
            <a:r>
              <a:rPr lang="en-IN" altLang="en-US"/>
              <a:t>b) Rs. 10000</a:t>
            </a:r>
            <a:endParaRPr lang="en-IN" altLang="en-US"/>
          </a:p>
          <a:p>
            <a:r>
              <a:rPr lang="en-IN" altLang="en-US"/>
              <a:t>c) Rs. 22500</a:t>
            </a:r>
            <a:endParaRPr lang="en-IN" altLang="en-US"/>
          </a:p>
          <a:p>
            <a:r>
              <a:rPr lang="en-IN" altLang="en-US"/>
              <a:t>d) Rs. 25000</a:t>
            </a:r>
            <a:endParaRPr lang="en-IN" altLang="en-US"/>
          </a:p>
          <a:p>
            <a:r>
              <a:rPr lang="en-IN" altLang="en-US"/>
              <a:t>d) Rs. 20000</a:t>
            </a:r>
            <a:endParaRPr lang="en-I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What is the value  of  the expression 4</a:t>
            </a:r>
            <a:r>
              <a:rPr lang="en-IN" altLang="en-US" baseline="30000"/>
              <a:t>23</a:t>
            </a:r>
            <a:r>
              <a:rPr lang="en-IN" altLang="en-US"/>
              <a:t> x 5</a:t>
            </a:r>
            <a:r>
              <a:rPr lang="en-IN" altLang="en-US" baseline="30000"/>
              <a:t>20 </a:t>
            </a:r>
            <a:r>
              <a:rPr lang="en-IN" altLang="en-US"/>
              <a:t>x 6</a:t>
            </a:r>
            <a:r>
              <a:rPr lang="en-IN" altLang="en-US" baseline="30000"/>
              <a:t>-2</a:t>
            </a:r>
            <a:r>
              <a:rPr lang="en-IN" altLang="en-US"/>
              <a:t> x 3</a:t>
            </a:r>
            <a:r>
              <a:rPr lang="en-IN" altLang="en-US" baseline="30000"/>
              <a:t>2</a:t>
            </a:r>
            <a:r>
              <a:rPr lang="en-IN" altLang="en-US"/>
              <a:t>x5</a:t>
            </a:r>
            <a:r>
              <a:rPr lang="en-IN" altLang="en-US" baseline="30000"/>
              <a:t>-5 </a:t>
            </a:r>
            <a:r>
              <a:rPr lang="en-IN" altLang="en-US"/>
              <a:t>*2</a:t>
            </a:r>
            <a:r>
              <a:rPr lang="en-IN" altLang="en-US" baseline="30000"/>
              <a:t>-46</a:t>
            </a:r>
            <a:r>
              <a:rPr lang="en-IN" altLang="en-US"/>
              <a:t>x5</a:t>
            </a:r>
            <a:r>
              <a:rPr lang="en-IN" altLang="en-US" baseline="30000"/>
              <a:t>-10 </a:t>
            </a:r>
            <a:r>
              <a:rPr lang="en-IN" altLang="en-US"/>
              <a:t>x 11</a:t>
            </a:r>
            <a:r>
              <a:rPr lang="en-IN" altLang="en-US" baseline="30000"/>
              <a:t>0 </a:t>
            </a:r>
            <a:r>
              <a:rPr lang="en-IN" altLang="en-US"/>
              <a:t>x 5</a:t>
            </a:r>
            <a:r>
              <a:rPr lang="en-IN" altLang="en-US" baseline="30000"/>
              <a:t>-5  </a:t>
            </a:r>
            <a:r>
              <a:rPr lang="en-IN" altLang="en-US"/>
              <a:t>?</a:t>
            </a:r>
            <a:endParaRPr lang="en-IN" altLang="en-US"/>
          </a:p>
          <a:p>
            <a:r>
              <a:rPr lang="en-IN" altLang="en-US"/>
              <a:t>a) 5</a:t>
            </a:r>
            <a:r>
              <a:rPr lang="en-IN" altLang="en-US" baseline="30000"/>
              <a:t>10</a:t>
            </a:r>
            <a:r>
              <a:rPr lang="en-IN" altLang="en-US"/>
              <a:t>/4</a:t>
            </a:r>
            <a:endParaRPr lang="en-IN" altLang="en-US"/>
          </a:p>
          <a:p>
            <a:r>
              <a:rPr lang="en-IN" altLang="en-US"/>
              <a:t>b) 5</a:t>
            </a:r>
            <a:r>
              <a:rPr lang="en-IN" altLang="en-US" baseline="30000"/>
              <a:t>10</a:t>
            </a:r>
            <a:endParaRPr lang="en-IN" altLang="en-US" baseline="30000"/>
          </a:p>
          <a:p>
            <a:r>
              <a:rPr lang="en-IN" altLang="en-US"/>
              <a:t>c) 4</a:t>
            </a:r>
            <a:endParaRPr lang="en-IN" altLang="en-US"/>
          </a:p>
          <a:p>
            <a:r>
              <a:rPr lang="en-IN" altLang="en-US"/>
              <a:t>d) 1/4</a:t>
            </a:r>
            <a:endParaRPr lang="en-I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If log 5 =0.69897 and log 7 = 0.8451 find the value of log 1225</a:t>
            </a:r>
            <a:endParaRPr lang="en-IN" altLang="en-US"/>
          </a:p>
          <a:p>
            <a:r>
              <a:rPr lang="en-IN" altLang="en-US"/>
              <a:t>a) 1.5</a:t>
            </a:r>
            <a:endParaRPr lang="en-IN" altLang="en-US"/>
          </a:p>
          <a:p>
            <a:r>
              <a:rPr lang="en-IN" altLang="en-US"/>
              <a:t>b) 3</a:t>
            </a:r>
            <a:endParaRPr lang="en-IN" altLang="en-US"/>
          </a:p>
          <a:p>
            <a:r>
              <a:rPr lang="en-IN" altLang="en-US"/>
              <a:t>c) 3.1</a:t>
            </a:r>
            <a:endParaRPr lang="en-IN" altLang="en-US"/>
          </a:p>
          <a:p>
            <a:r>
              <a:rPr lang="en-IN" altLang="en-US"/>
              <a:t>d) 3.2</a:t>
            </a:r>
            <a:endParaRPr lang="en-I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100 newspapers cost Rs.125.What is the cost of two pages of the newspaper.When it is known that 1 newspaper comprises of 15 pages ?</a:t>
            </a:r>
            <a:endParaRPr lang="en-IN" altLang="en-US"/>
          </a:p>
          <a:p>
            <a:r>
              <a:rPr lang="en-IN" altLang="en-US"/>
              <a:t>a) 16.64 paise</a:t>
            </a:r>
            <a:endParaRPr lang="en-IN" altLang="en-US"/>
          </a:p>
          <a:p>
            <a:r>
              <a:rPr lang="en-IN" altLang="en-US"/>
              <a:t>b) 21 paise</a:t>
            </a:r>
            <a:endParaRPr lang="en-IN" altLang="en-US"/>
          </a:p>
          <a:p>
            <a:r>
              <a:rPr lang="en-IN" altLang="en-US"/>
              <a:t>c) 8.33 paise</a:t>
            </a:r>
            <a:endParaRPr lang="en-IN" altLang="en-US"/>
          </a:p>
          <a:p>
            <a:r>
              <a:rPr lang="en-IN" altLang="en-US"/>
              <a:t>d) 17.00 paise</a:t>
            </a:r>
            <a:endParaRPr lang="en-I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If u =4 and v=3 then what is the value of log</a:t>
            </a:r>
            <a:r>
              <a:rPr lang="en-IN" altLang="en-US" baseline="-25000"/>
              <a:t>(u+v)</a:t>
            </a:r>
            <a:r>
              <a:rPr lang="en-IN" altLang="en-US"/>
              <a:t> (u</a:t>
            </a:r>
            <a:r>
              <a:rPr lang="en-IN" altLang="en-US" baseline="30000"/>
              <a:t>2</a:t>
            </a:r>
            <a:r>
              <a:rPr lang="en-IN" altLang="en-US"/>
              <a:t>-v</a:t>
            </a:r>
            <a:r>
              <a:rPr lang="en-IN" altLang="en-US" baseline="30000"/>
              <a:t>2</a:t>
            </a:r>
            <a:r>
              <a:rPr lang="en-IN" altLang="en-US"/>
              <a:t>)</a:t>
            </a:r>
            <a:endParaRPr lang="en-I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A light blinks after every 3 seconds, another light blinks after 5 seconds and the third one blinks after every 16 seconds.how many times do they blink together in half an hour?</a:t>
            </a:r>
            <a:endParaRPr lang="en-IN" altLang="en-US"/>
          </a:p>
          <a:p>
            <a:r>
              <a:rPr lang="en-IN" altLang="en-US"/>
              <a:t>a) 240 times</a:t>
            </a:r>
            <a:endParaRPr lang="en-IN" altLang="en-US"/>
          </a:p>
          <a:p>
            <a:r>
              <a:rPr lang="en-IN" altLang="en-US"/>
              <a:t>b) 8 times</a:t>
            </a:r>
            <a:endParaRPr lang="en-IN" altLang="en-US"/>
          </a:p>
          <a:p>
            <a:r>
              <a:rPr lang="en-IN" altLang="en-US"/>
              <a:t>c) 7 times </a:t>
            </a:r>
            <a:endParaRPr lang="en-IN" altLang="en-US"/>
          </a:p>
          <a:p>
            <a:r>
              <a:rPr lang="en-IN" altLang="en-US"/>
              <a:t>d) 4 times </a:t>
            </a:r>
            <a:endParaRPr lang="en-IN" altLang="en-US"/>
          </a:p>
          <a:p>
            <a:r>
              <a:rPr lang="en-IN" altLang="en-US"/>
              <a:t> </a:t>
            </a:r>
            <a:endParaRPr lang="en-I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Evaluate log 50 + log 75 -log  30 if</a:t>
            </a:r>
            <a:endParaRPr lang="en-IN" altLang="en-US"/>
          </a:p>
          <a:p>
            <a:r>
              <a:rPr lang="en-IN" altLang="en-US"/>
              <a:t>log 2 =0.3010: log 3= 0.4771 ; log 5 =0.6989</a:t>
            </a:r>
            <a:endParaRPr lang="en-IN" altLang="en-US"/>
          </a:p>
          <a:p>
            <a:r>
              <a:rPr lang="en-IN" altLang="en-US"/>
              <a:t>a) 2</a:t>
            </a:r>
            <a:endParaRPr lang="en-IN" altLang="en-US"/>
          </a:p>
          <a:p>
            <a:r>
              <a:rPr lang="en-IN" altLang="en-US"/>
              <a:t>b) 2.2</a:t>
            </a:r>
            <a:endParaRPr lang="en-IN" altLang="en-US"/>
          </a:p>
          <a:p>
            <a:r>
              <a:rPr lang="en-IN" altLang="en-US"/>
              <a:t>c) 2.5</a:t>
            </a:r>
            <a:endParaRPr lang="en-IN" altLang="en-US"/>
          </a:p>
          <a:p>
            <a:r>
              <a:rPr lang="en-IN" altLang="en-US"/>
              <a:t>d) 1.8</a:t>
            </a:r>
            <a:endParaRPr lang="en-I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IN" altLang="en-US"/>
              <a:t>Problem : Four people A,B,C,D are sitting in a row who is sitting at the extreme right?</a:t>
            </a:r>
            <a:endParaRPr lang="en-IN" altLang="en-US"/>
          </a:p>
          <a:p>
            <a:r>
              <a:rPr lang="en-IN" altLang="en-US"/>
              <a:t>Staements:</a:t>
            </a:r>
            <a:endParaRPr lang="en-IN" altLang="en-US"/>
          </a:p>
          <a:p>
            <a:r>
              <a:rPr lang="en-IN" altLang="en-US"/>
              <a:t>i) C is to the left of D</a:t>
            </a:r>
            <a:endParaRPr lang="en-IN" altLang="en-US"/>
          </a:p>
          <a:p>
            <a:r>
              <a:rPr lang="en-IN" altLang="en-US"/>
              <a:t>ii) B is to the left of A</a:t>
            </a:r>
            <a:endParaRPr lang="en-IN" altLang="en-US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 smtClean="0">
                <a:sym typeface="+mn-ea"/>
              </a:rPr>
              <a:t>(</a:t>
            </a:r>
            <a:r>
              <a:rPr lang="en-IN" dirty="0">
                <a:sym typeface="+mn-ea"/>
              </a:rPr>
              <a:t>a) if the data in statement I alone are sufficient to answer the </a:t>
            </a:r>
            <a:r>
              <a:rPr lang="en-IN" dirty="0" smtClean="0">
                <a:sym typeface="+mn-ea"/>
              </a:rPr>
              <a:t>question</a:t>
            </a:r>
            <a:r>
              <a:rPr lang="en-IN" dirty="0">
                <a:sym typeface="+mn-ea"/>
              </a:rPr>
              <a:t>;</a:t>
            </a:r>
            <a:endParaRPr lang="en-IN" dirty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>
                <a:sym typeface="+mn-ea"/>
              </a:rPr>
              <a:t>	</a:t>
            </a:r>
            <a:endParaRPr lang="en-IN" dirty="0" smtClean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 smtClean="0">
                <a:sym typeface="+mn-ea"/>
              </a:rPr>
              <a:t>(</a:t>
            </a:r>
            <a:r>
              <a:rPr lang="en-IN" dirty="0">
                <a:sym typeface="+mn-ea"/>
              </a:rPr>
              <a:t>b) if the data in statement II alone are sufficient answer the </a:t>
            </a:r>
            <a:r>
              <a:rPr lang="en-IN" dirty="0" smtClean="0">
                <a:sym typeface="+mn-ea"/>
              </a:rPr>
              <a:t>question</a:t>
            </a:r>
            <a:r>
              <a:rPr lang="en-IN" dirty="0">
                <a:sym typeface="+mn-ea"/>
              </a:rPr>
              <a:t>;</a:t>
            </a:r>
            <a:endParaRPr lang="en-IN" dirty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>
                <a:sym typeface="+mn-ea"/>
              </a:rPr>
              <a:t>	</a:t>
            </a:r>
            <a:endParaRPr lang="en-IN" dirty="0" smtClean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 smtClean="0">
                <a:sym typeface="+mn-ea"/>
              </a:rPr>
              <a:t>(</a:t>
            </a:r>
            <a:r>
              <a:rPr lang="en-IN" dirty="0">
                <a:sym typeface="+mn-ea"/>
              </a:rPr>
              <a:t>c) if the data either in I or II alone are sufficient to answer the </a:t>
            </a:r>
            <a:r>
              <a:rPr lang="en-IN" dirty="0" smtClean="0">
                <a:sym typeface="+mn-ea"/>
              </a:rPr>
              <a:t>question</a:t>
            </a:r>
            <a:r>
              <a:rPr lang="en-IN" dirty="0">
                <a:sym typeface="+mn-ea"/>
              </a:rPr>
              <a:t>;</a:t>
            </a:r>
            <a:endParaRPr lang="en-IN" dirty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>
                <a:sym typeface="+mn-ea"/>
              </a:rPr>
              <a:t>	</a:t>
            </a:r>
            <a:endParaRPr lang="en-IN" dirty="0" smtClean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 smtClean="0">
                <a:sym typeface="+mn-ea"/>
              </a:rPr>
              <a:t>(</a:t>
            </a:r>
            <a:r>
              <a:rPr lang="en-IN" dirty="0">
                <a:sym typeface="+mn-ea"/>
              </a:rPr>
              <a:t>d) if the data even in both the statements together are not </a:t>
            </a:r>
            <a:r>
              <a:rPr lang="en-IN" dirty="0" smtClean="0">
                <a:sym typeface="+mn-ea"/>
              </a:rPr>
              <a:t>sufficient </a:t>
            </a:r>
            <a:r>
              <a:rPr lang="en-IN" dirty="0">
                <a:sym typeface="+mn-ea"/>
              </a:rPr>
              <a:t>to answer </a:t>
            </a:r>
            <a:r>
              <a:rPr lang="en-IN" dirty="0" smtClean="0">
                <a:sym typeface="+mn-ea"/>
              </a:rPr>
              <a:t>the</a:t>
            </a:r>
            <a:endParaRPr lang="en-IN" dirty="0" smtClean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 smtClean="0">
                <a:sym typeface="+mn-ea"/>
              </a:rPr>
              <a:t>question</a:t>
            </a:r>
            <a:r>
              <a:rPr lang="en-IN" dirty="0">
                <a:sym typeface="+mn-ea"/>
              </a:rPr>
              <a:t>;</a:t>
            </a:r>
            <a:endParaRPr lang="en-IN" dirty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>
                <a:sym typeface="+mn-ea"/>
              </a:rPr>
              <a:t>	</a:t>
            </a:r>
            <a:endParaRPr lang="en-IN" dirty="0" smtClean="0"/>
          </a:p>
          <a:p>
            <a:pPr marL="467995" indent="-467995" algn="just">
              <a:lnSpc>
                <a:spcPct val="11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IN" dirty="0" smtClean="0">
                <a:sym typeface="+mn-ea"/>
              </a:rPr>
              <a:t>(e</a:t>
            </a:r>
            <a:r>
              <a:rPr lang="en-IN" dirty="0">
                <a:sym typeface="+mn-ea"/>
              </a:rPr>
              <a:t>) if the data in both the statements together are needed.</a:t>
            </a:r>
            <a:endParaRPr lang="en-IN" dirty="0"/>
          </a:p>
          <a:p>
            <a:endParaRPr lang="en-I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altLang="en-US"/>
              <a:t>0.353535........ x 198.00</a:t>
            </a:r>
            <a:endParaRPr lang="en-IN" altLang="en-US"/>
          </a:p>
          <a:p>
            <a:r>
              <a:rPr lang="en-IN" altLang="en-US"/>
              <a:t>a) 6.933</a:t>
            </a:r>
            <a:endParaRPr lang="en-IN" altLang="en-US"/>
          </a:p>
          <a:p>
            <a:r>
              <a:rPr lang="en-IN" altLang="en-US"/>
              <a:t>b) 69.33</a:t>
            </a:r>
            <a:endParaRPr lang="en-IN" altLang="en-US"/>
          </a:p>
          <a:p>
            <a:r>
              <a:rPr lang="en-IN" altLang="en-US"/>
              <a:t>c) 69</a:t>
            </a:r>
            <a:endParaRPr lang="en-IN" altLang="en-US"/>
          </a:p>
          <a:p>
            <a:r>
              <a:rPr lang="en-IN" altLang="en-US"/>
              <a:t>d) 70</a:t>
            </a:r>
            <a:endParaRPr lang="en-IN" altLang="en-US"/>
          </a:p>
          <a:p>
            <a:endParaRPr lang="en-IN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                                                                                       </a:t>
            </a:r>
            <a:r>
              <a:rPr lang="en-IN" sz="3600" dirty="0" smtClean="0"/>
              <a:t>THANK YOU</a:t>
            </a:r>
            <a:endParaRPr lang="en-IN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 spider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5474</Words>
  <Application>WPS Presentation</Application>
  <PresentationFormat>Widescreen</PresentationFormat>
  <Paragraphs>265</Paragraphs>
  <Slides>45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6" baseType="lpstr">
      <vt:lpstr>Arial</vt:lpstr>
      <vt:lpstr>SimSun</vt:lpstr>
      <vt:lpstr>Wingdings</vt:lpstr>
      <vt:lpstr>Cambria</vt:lpstr>
      <vt:lpstr>Calibri</vt:lpstr>
      <vt:lpstr>Calibri Light</vt:lpstr>
      <vt:lpstr>Microsoft YaHei</vt:lpstr>
      <vt:lpstr>Arial Unicode MS</vt:lpstr>
      <vt:lpstr>Cambria Math</vt:lpstr>
      <vt:lpstr>Q spider</vt:lpstr>
      <vt:lpstr>Custom Design</vt:lpstr>
      <vt:lpstr>AGES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vignesh</cp:lastModifiedBy>
  <cp:revision>5</cp:revision>
  <dcterms:created xsi:type="dcterms:W3CDTF">2022-04-07T04:00:00Z</dcterms:created>
  <dcterms:modified xsi:type="dcterms:W3CDTF">2022-06-07T12:00:26Z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FD49402D88324F2EB3435FBE187FDA0B</vt:lpwstr>
  </property>
  <property fmtid="{D5CDD505-2E9C-101B-9397-08002B2CF9AE}" pid="4" name="KSOProductBuildVer">
    <vt:lpwstr>1033-11.2.0.11130</vt:lpwstr>
  </property>
</Properties>
</file>