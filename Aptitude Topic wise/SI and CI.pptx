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iG0uuY4+6qzBkpyzmtJCI9TUYg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21"/>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21"/>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2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2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21"/>
          <p:cNvSpPr/>
          <p:nvPr>
            <p:ph idx="2" type="pic"/>
          </p:nvPr>
        </p:nvSpPr>
        <p:spPr>
          <a:xfrm>
            <a:off x="0" y="0"/>
            <a:ext cx="6311900" cy="6858000"/>
          </a:xfrm>
          <a:prstGeom prst="rect">
            <a:avLst/>
          </a:prstGeom>
          <a:noFill/>
          <a:ln>
            <a:noFill/>
          </a:ln>
        </p:spPr>
      </p:sp>
      <p:sp>
        <p:nvSpPr>
          <p:cNvPr id="21" name="Google Shape;21;p21"/>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1"/>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2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2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2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23"/>
          <p:cNvSpPr/>
          <p:nvPr>
            <p:ph idx="2" type="pic"/>
          </p:nvPr>
        </p:nvSpPr>
        <p:spPr>
          <a:xfrm>
            <a:off x="0" y="0"/>
            <a:ext cx="12192000" cy="6858000"/>
          </a:xfrm>
          <a:prstGeom prst="rect">
            <a:avLst/>
          </a:prstGeom>
          <a:noFill/>
          <a:ln>
            <a:noFill/>
          </a:ln>
        </p:spPr>
      </p:sp>
      <p:sp>
        <p:nvSpPr>
          <p:cNvPr id="32" name="Google Shape;32;p2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2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23"/>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23"/>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24"/>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2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2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2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24"/>
          <p:cNvSpPr/>
          <p:nvPr>
            <p:ph idx="2" type="pic"/>
          </p:nvPr>
        </p:nvSpPr>
        <p:spPr>
          <a:xfrm>
            <a:off x="0" y="0"/>
            <a:ext cx="6311900" cy="6858000"/>
          </a:xfrm>
          <a:prstGeom prst="rect">
            <a:avLst/>
          </a:prstGeom>
          <a:noFill/>
          <a:ln>
            <a:noFill/>
          </a:ln>
        </p:spPr>
      </p:sp>
      <p:sp>
        <p:nvSpPr>
          <p:cNvPr id="43" name="Google Shape;43;p24"/>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24"/>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4"/>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24"/>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25"/>
          <p:cNvSpPr/>
          <p:nvPr>
            <p:ph idx="2" type="pic"/>
          </p:nvPr>
        </p:nvSpPr>
        <p:spPr>
          <a:xfrm>
            <a:off x="0" y="0"/>
            <a:ext cx="12192000" cy="6858000"/>
          </a:xfrm>
          <a:prstGeom prst="rect">
            <a:avLst/>
          </a:prstGeom>
          <a:noFill/>
          <a:ln>
            <a:noFill/>
          </a:ln>
        </p:spPr>
      </p:sp>
      <p:sp>
        <p:nvSpPr>
          <p:cNvPr id="52" name="Google Shape;52;p25"/>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25"/>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5"/>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25"/>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6"/>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6"/>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7"/>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27"/>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27"/>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27"/>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29"/>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3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30"/>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0"/>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0"/>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30"/>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30"/>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30"/>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30"/>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30"/>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30"/>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3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3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3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3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3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32"/>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32"/>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2"/>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32"/>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32"/>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3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3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3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32"/>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32"/>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32"/>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33"/>
          <p:cNvSpPr/>
          <p:nvPr>
            <p:ph idx="2" type="pic"/>
          </p:nvPr>
        </p:nvSpPr>
        <p:spPr>
          <a:xfrm>
            <a:off x="0" y="0"/>
            <a:ext cx="4654296" cy="5864225"/>
          </a:xfrm>
          <a:prstGeom prst="rect">
            <a:avLst/>
          </a:prstGeom>
          <a:noFill/>
          <a:ln>
            <a:noFill/>
          </a:ln>
        </p:spPr>
      </p:sp>
      <p:sp>
        <p:nvSpPr>
          <p:cNvPr id="113" name="Google Shape;113;p3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33"/>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3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3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3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33"/>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34"/>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34"/>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4"/>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3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3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3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34"/>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35"/>
          <p:cNvSpPr/>
          <p:nvPr>
            <p:ph idx="2" type="pic"/>
          </p:nvPr>
        </p:nvSpPr>
        <p:spPr>
          <a:xfrm>
            <a:off x="0" y="0"/>
            <a:ext cx="12192000" cy="3541486"/>
          </a:xfrm>
          <a:prstGeom prst="rect">
            <a:avLst/>
          </a:prstGeom>
          <a:noFill/>
          <a:ln>
            <a:noFill/>
          </a:ln>
        </p:spPr>
      </p:sp>
      <p:sp>
        <p:nvSpPr>
          <p:cNvPr id="129" name="Google Shape;129;p35"/>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5"/>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3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35"/>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3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6"/>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36"/>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6"/>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6"/>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3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3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3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36"/>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37"/>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37"/>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37"/>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7"/>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7"/>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3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3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37"/>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38"/>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8"/>
          <p:cNvSpPr/>
          <p:nvPr>
            <p:ph idx="2" type="pic"/>
          </p:nvPr>
        </p:nvSpPr>
        <p:spPr>
          <a:xfrm>
            <a:off x="15" y="0"/>
            <a:ext cx="12191985" cy="4578350"/>
          </a:xfrm>
          <a:prstGeom prst="rect">
            <a:avLst/>
          </a:prstGeom>
          <a:solidFill>
            <a:schemeClr val="lt1"/>
          </a:solidFill>
          <a:ln>
            <a:noFill/>
          </a:ln>
        </p:spPr>
      </p:sp>
      <p:sp>
        <p:nvSpPr>
          <p:cNvPr id="158" name="Google Shape;158;p38"/>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8"/>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3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8"/>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3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38"/>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3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39"/>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3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3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3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40"/>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40"/>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4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4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4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40"/>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3" name="Shape 183"/>
        <p:cNvGrpSpPr/>
        <p:nvPr/>
      </p:nvGrpSpPr>
      <p:grpSpPr>
        <a:xfrm>
          <a:off x="0" y="0"/>
          <a:ext cx="0" cy="0"/>
          <a:chOff x="0" y="0"/>
          <a:chExt cx="0" cy="0"/>
        </a:xfrm>
      </p:grpSpPr>
      <p:sp>
        <p:nvSpPr>
          <p:cNvPr id="184" name="Google Shape;184;p4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4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 name="Google Shape;186;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p4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4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4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4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4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4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4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
        <p:nvSpPr>
          <p:cNvPr id="223" name="Google Shape;223;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6" name="Shape 226"/>
        <p:cNvGrpSpPr/>
        <p:nvPr/>
      </p:nvGrpSpPr>
      <p:grpSpPr>
        <a:xfrm>
          <a:off x="0" y="0"/>
          <a:ext cx="0" cy="0"/>
          <a:chOff x="0" y="0"/>
          <a:chExt cx="0" cy="0"/>
        </a:xfrm>
      </p:grpSpPr>
      <p:sp>
        <p:nvSpPr>
          <p:cNvPr id="227" name="Google Shape;227;p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4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9" name="Google Shape;229;p4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0" name="Google Shape;230;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 name="Shape 233"/>
        <p:cNvGrpSpPr/>
        <p:nvPr/>
      </p:nvGrpSpPr>
      <p:grpSpPr>
        <a:xfrm>
          <a:off x="0" y="0"/>
          <a:ext cx="0" cy="0"/>
          <a:chOff x="0" y="0"/>
          <a:chExt cx="0" cy="0"/>
        </a:xfrm>
      </p:grpSpPr>
      <p:sp>
        <p:nvSpPr>
          <p:cNvPr id="234" name="Google Shape;234;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50"/>
          <p:cNvSpPr/>
          <p:nvPr>
            <p:ph idx="2" type="pic"/>
          </p:nvPr>
        </p:nvSpPr>
        <p:spPr>
          <a:xfrm>
            <a:off x="5183188" y="987425"/>
            <a:ext cx="6172200" cy="4873625"/>
          </a:xfrm>
          <a:prstGeom prst="rect">
            <a:avLst/>
          </a:prstGeom>
          <a:noFill/>
          <a:ln>
            <a:noFill/>
          </a:ln>
        </p:spPr>
      </p:sp>
      <p:sp>
        <p:nvSpPr>
          <p:cNvPr id="236" name="Google Shape;236;p5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7" name="Google Shape;23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0" name="Shape 240"/>
        <p:cNvGrpSpPr/>
        <p:nvPr/>
      </p:nvGrpSpPr>
      <p:grpSpPr>
        <a:xfrm>
          <a:off x="0" y="0"/>
          <a:ext cx="0" cy="0"/>
          <a:chOff x="0" y="0"/>
          <a:chExt cx="0" cy="0"/>
        </a:xfrm>
      </p:grpSpPr>
      <p:sp>
        <p:nvSpPr>
          <p:cNvPr id="241" name="Google Shape;24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5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6" name="Shape 246"/>
        <p:cNvGrpSpPr/>
        <p:nvPr/>
      </p:nvGrpSpPr>
      <p:grpSpPr>
        <a:xfrm>
          <a:off x="0" y="0"/>
          <a:ext cx="0" cy="0"/>
          <a:chOff x="0" y="0"/>
          <a:chExt cx="0" cy="0"/>
        </a:xfrm>
      </p:grpSpPr>
      <p:sp>
        <p:nvSpPr>
          <p:cNvPr id="247" name="Google Shape;247;p5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5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2.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3.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2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20"/>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SI and CI</a:t>
            </a:r>
            <a:endParaRPr>
              <a:solidFill>
                <a:srgbClr val="FF0000"/>
              </a:solidFill>
            </a:endParaRPr>
          </a:p>
        </p:txBody>
      </p:sp>
      <p:sp>
        <p:nvSpPr>
          <p:cNvPr id="258" name="Google Shape;258;p1"/>
          <p:cNvSpPr txBox="1"/>
          <p:nvPr>
            <p:ph idx="1" type="subTitle"/>
          </p:nvPr>
        </p:nvSpPr>
        <p:spPr>
          <a:xfrm>
            <a:off x="6632171" y="4660900"/>
            <a:ext cx="4526400" cy="1279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4" name="Google Shape;264;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 Find the SI and the amount on Rs.5,000 at 10 % per annum  for 5 years. </a:t>
            </a:r>
            <a:endParaRPr/>
          </a:p>
          <a:p>
            <a:pPr indent="0" lvl="0" marL="0" rtl="0" algn="l">
              <a:lnSpc>
                <a:spcPct val="100000"/>
              </a:lnSpc>
              <a:spcBef>
                <a:spcPts val="1400"/>
              </a:spcBef>
              <a:spcAft>
                <a:spcPts val="0"/>
              </a:spcAft>
              <a:buSzPts val="2000"/>
              <a:buNone/>
            </a:pPr>
            <a:r>
              <a:rPr lang="en-US"/>
              <a:t>(A) Rs.2,000; Rs.7,500   (B) Rs.3,500; Rs.7,500   (C) Rs.2,500; Rs.7,500 (D) Rs.2,500; Rs.7,000 </a:t>
            </a:r>
            <a:endParaRPr/>
          </a:p>
          <a:p>
            <a:pPr indent="0" lvl="0" marL="0" rtl="0" algn="l">
              <a:lnSpc>
                <a:spcPct val="100000"/>
              </a:lnSpc>
              <a:spcBef>
                <a:spcPts val="1400"/>
              </a:spcBef>
              <a:spcAft>
                <a:spcPts val="0"/>
              </a:spcAft>
              <a:buSzPts val="2000"/>
              <a:buNone/>
            </a:pPr>
            <a:r>
              <a:rPr lang="en-US"/>
              <a:t>2. Find the SI and the amount on Rs.1,200 at 12 1/2%  per annum for 3 years.</a:t>
            </a:r>
            <a:endParaRPr/>
          </a:p>
          <a:p>
            <a:pPr indent="0" lvl="0" marL="0" rtl="0" algn="l">
              <a:lnSpc>
                <a:spcPct val="100000"/>
              </a:lnSpc>
              <a:spcBef>
                <a:spcPts val="1400"/>
              </a:spcBef>
              <a:spcAft>
                <a:spcPts val="0"/>
              </a:spcAft>
              <a:buSzPts val="2000"/>
              <a:buNone/>
            </a:pPr>
            <a:r>
              <a:rPr lang="en-US"/>
              <a:t> (A) Rs.450; Rs.1,650 (B) Rs.200; Rs.6,000 (C) Rs.540; Rs.1,750 (D) Rs.500; Rs.10,000 </a:t>
            </a:r>
            <a:endParaRPr/>
          </a:p>
          <a:p>
            <a:pPr indent="0" lvl="0" marL="0" rtl="0" algn="l">
              <a:lnSpc>
                <a:spcPct val="100000"/>
              </a:lnSpc>
              <a:spcBef>
                <a:spcPts val="1400"/>
              </a:spcBef>
              <a:spcAft>
                <a:spcPts val="0"/>
              </a:spcAft>
              <a:buSzPts val="2000"/>
              <a:buNone/>
            </a:pPr>
            <a:r>
              <a:rPr lang="en-US"/>
              <a:t>3.find the principal that  amounts to Rs.11,800 at 6% per annum for 3 years being simple interest annually.</a:t>
            </a:r>
            <a:endParaRPr/>
          </a:p>
          <a:p>
            <a:pPr indent="0" lvl="0" marL="0" rtl="0" algn="l">
              <a:lnSpc>
                <a:spcPct val="100000"/>
              </a:lnSpc>
              <a:spcBef>
                <a:spcPts val="1400"/>
              </a:spcBef>
              <a:spcAft>
                <a:spcPts val="0"/>
              </a:spcAft>
              <a:buSzPts val="2000"/>
              <a:buNone/>
            </a:pPr>
            <a:r>
              <a:rPr lang="en-US"/>
              <a:t>(A) ₹8,000	(B) ₹9,000	(C) ₹10,000	(D) ₹9,500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0" name="Google Shape;270;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 Sangeetha borrowed Rs.8,000 from Alex for 2 years at 12 1/2 % per annum. What interest did Sangeetha, pay to Alex if the interest is compounded annually. </a:t>
            </a:r>
            <a:endParaRPr/>
          </a:p>
          <a:p>
            <a:pPr indent="0" lvl="0" marL="0" rtl="0" algn="l">
              <a:lnSpc>
                <a:spcPct val="100000"/>
              </a:lnSpc>
              <a:spcBef>
                <a:spcPts val="1400"/>
              </a:spcBef>
              <a:spcAft>
                <a:spcPts val="0"/>
              </a:spcAft>
              <a:buSzPts val="2000"/>
              <a:buNone/>
            </a:pPr>
            <a:r>
              <a:rPr lang="en-US"/>
              <a:t>(A)Rs.2,300 (B)Rs.2,125 (C)Rs.2,225 (D)Rs.1,125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If the rate of interest be 4% per annum for first year, 5% per annum for second year and 6%  per annum for third year, then the compound interest of Rs.10000 for 3 years Will be:                     </a:t>
            </a:r>
            <a:endParaRPr/>
          </a:p>
          <a:p>
            <a:pPr indent="0" lvl="0" marL="0" rtl="0" algn="l">
              <a:lnSpc>
                <a:spcPct val="100000"/>
              </a:lnSpc>
              <a:spcBef>
                <a:spcPts val="1400"/>
              </a:spcBef>
              <a:spcAft>
                <a:spcPts val="0"/>
              </a:spcAft>
              <a:buSzPts val="2000"/>
              <a:buNone/>
            </a:pPr>
            <a:r>
              <a:rPr lang="en-US"/>
              <a:t>  (a) 1575.20 (b)  1600 (c)  1625.80 (d)  2000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6" name="Google Shape;276;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1400"/>
              </a:spcBef>
              <a:spcAft>
                <a:spcPts val="0"/>
              </a:spcAft>
              <a:buSzPts val="2000"/>
              <a:buNone/>
            </a:pPr>
            <a:r>
              <a:rPr lang="en-US"/>
              <a:t>5.A sum was put at simple interest at a certain rate for 2 years Had it be put at 3 % higher rate, it would have fetched Rs.300 more. Find the sum </a:t>
            </a:r>
            <a:endParaRPr/>
          </a:p>
          <a:p>
            <a:pPr indent="0" lvl="0" marL="0" rtl="0" algn="l">
              <a:lnSpc>
                <a:spcPct val="100000"/>
              </a:lnSpc>
              <a:spcBef>
                <a:spcPts val="1400"/>
              </a:spcBef>
              <a:spcAft>
                <a:spcPts val="0"/>
              </a:spcAft>
              <a:buSzPts val="2000"/>
              <a:buNone/>
            </a:pPr>
            <a:r>
              <a:rPr lang="en-US"/>
              <a:t>(A) 1000 (B) 2000 (C) 5000 (D) 8000 </a:t>
            </a:r>
            <a:endParaRPr/>
          </a:p>
          <a:p>
            <a:pPr indent="0" lvl="0" marL="0" rtl="0" algn="l">
              <a:lnSpc>
                <a:spcPct val="100000"/>
              </a:lnSpc>
              <a:spcBef>
                <a:spcPts val="1400"/>
              </a:spcBef>
              <a:spcAft>
                <a:spcPts val="0"/>
              </a:spcAft>
              <a:buSzPts val="2000"/>
              <a:buNone/>
            </a:pPr>
            <a:r>
              <a:rPr lang="en-US"/>
              <a:t>6.Priya took a certain amount as a loan from a bank at the rate of 8% p.a. simple interest and gave the same amount of Vignesh  as a loan at the rate of 12%p.a. If at the end of 12 years, She made a profit of Rs .960 in the deal, then the original amount was: </a:t>
            </a:r>
            <a:endParaRPr/>
          </a:p>
          <a:p>
            <a:pPr indent="0" lvl="0" marL="0" rtl="0" algn="l">
              <a:lnSpc>
                <a:spcPct val="100000"/>
              </a:lnSpc>
              <a:spcBef>
                <a:spcPts val="1400"/>
              </a:spcBef>
              <a:spcAft>
                <a:spcPts val="0"/>
              </a:spcAft>
              <a:buSzPts val="2000"/>
              <a:buNone/>
            </a:pPr>
            <a:r>
              <a:rPr lang="en-US"/>
              <a:t>(a) 1000 (b) 2000 (c)3000 (d) 3356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2" name="Google Shape;282;p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7.Two equal amounts of money are deposited in two banks, each at 15% per annum for 3 1/2 years and 5 years. If the difference between their interests is Rs. 144, each sum is ?</a:t>
            </a:r>
            <a:endParaRPr/>
          </a:p>
          <a:p>
            <a:pPr indent="0" lvl="0" marL="0" rtl="0" algn="l">
              <a:lnSpc>
                <a:spcPct val="100000"/>
              </a:lnSpc>
              <a:spcBef>
                <a:spcPts val="1400"/>
              </a:spcBef>
              <a:spcAft>
                <a:spcPts val="0"/>
              </a:spcAft>
              <a:buSzPts val="2000"/>
              <a:buNone/>
            </a:pPr>
            <a:r>
              <a:rPr lang="en-US"/>
              <a:t> a) Rs. 460 b) Rs. 500  c)Rs. 640 d) Rs. 720</a:t>
            </a:r>
            <a:endParaRPr/>
          </a:p>
          <a:p>
            <a:pPr indent="0" lvl="0" marL="0" rtl="0" algn="l">
              <a:lnSpc>
                <a:spcPct val="100000"/>
              </a:lnSpc>
              <a:spcBef>
                <a:spcPts val="1400"/>
              </a:spcBef>
              <a:spcAft>
                <a:spcPts val="0"/>
              </a:spcAft>
              <a:buSzPts val="2000"/>
              <a:buNone/>
            </a:pPr>
            <a:r>
              <a:rPr lang="en-US"/>
              <a:t>8. Interest at the rate of 3% is charged on an account for first two years. For the next three years interest @ 4 % and after5  years interest @ 6 % are charged. What will be the simple interest on Rs.2,000 after ten years? </a:t>
            </a:r>
            <a:endParaRPr/>
          </a:p>
          <a:p>
            <a:pPr indent="0" lvl="0" marL="0" rtl="0" algn="l">
              <a:lnSpc>
                <a:spcPct val="100000"/>
              </a:lnSpc>
              <a:spcBef>
                <a:spcPts val="1400"/>
              </a:spcBef>
              <a:spcAft>
                <a:spcPts val="0"/>
              </a:spcAft>
              <a:buSzPts val="2000"/>
              <a:buNone/>
            </a:pPr>
            <a:r>
              <a:rPr lang="en-US"/>
              <a:t>(a) 1000 (b) 890 (c) 600 (d) 960 </a:t>
            </a:r>
            <a:endParaRPr/>
          </a:p>
          <a:p>
            <a:pPr indent="0" lvl="0" marL="0" rtl="0" algn="l">
              <a:lnSpc>
                <a:spcPct val="100000"/>
              </a:lnSpc>
              <a:spcBef>
                <a:spcPts val="1400"/>
              </a:spcBef>
              <a:spcAft>
                <a:spcPts val="0"/>
              </a:spcAft>
              <a:buSzPts val="2000"/>
              <a:buNone/>
            </a:pPr>
            <a:r>
              <a:rPr lang="en-US"/>
              <a:t>9.What Is the rate of annual simple interest at which a sum of money would double itself in 25 years? </a:t>
            </a:r>
            <a:endParaRPr/>
          </a:p>
          <a:p>
            <a:pPr indent="0" lvl="0" marL="0" rtl="0" algn="l">
              <a:lnSpc>
                <a:spcPct val="100000"/>
              </a:lnSpc>
              <a:spcBef>
                <a:spcPts val="1400"/>
              </a:spcBef>
              <a:spcAft>
                <a:spcPts val="0"/>
              </a:spcAft>
              <a:buSzPts val="2000"/>
              <a:buNone/>
            </a:pPr>
            <a:r>
              <a:rPr lang="en-US"/>
              <a:t> (a) 4% (b) 5% (c) 6% (d) 8% </a:t>
            </a:r>
            <a:endParaRPr/>
          </a:p>
          <a:p>
            <a:pPr indent="0" lvl="0" marL="0" rtl="0" algn="l">
              <a:lnSpc>
                <a:spcPct val="100000"/>
              </a:lnSpc>
              <a:spcBef>
                <a:spcPts val="1400"/>
              </a:spcBef>
              <a:spcAft>
                <a:spcPts val="0"/>
              </a:spcAft>
              <a:buSzPts val="2000"/>
              <a:buNone/>
            </a:pPr>
            <a:r>
              <a:rPr lang="en-US"/>
              <a:t>10.A certain sum is invested on simple interest. If it triples in 20 year,what is the rate of interest? </a:t>
            </a:r>
            <a:endParaRPr/>
          </a:p>
          <a:p>
            <a:pPr indent="0" lvl="0" marL="0" rtl="0" algn="l">
              <a:lnSpc>
                <a:spcPct val="100000"/>
              </a:lnSpc>
              <a:spcBef>
                <a:spcPts val="1400"/>
              </a:spcBef>
              <a:spcAft>
                <a:spcPts val="0"/>
              </a:spcAft>
              <a:buSzPts val="2000"/>
              <a:buNone/>
            </a:pPr>
            <a:r>
              <a:rPr lang="en-US"/>
              <a:t>(a)10% (b) 8% (c)8 1/2% (d)10 1/2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8" name="Google Shape;288;p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12.A sum of money becomes 2 times itself in 20 years at a certain rate of simple interest. In how many years does it 4 times  itself at the same rate of simple interest?</a:t>
            </a:r>
            <a:endParaRPr/>
          </a:p>
          <a:p>
            <a:pPr indent="0" lvl="0" marL="0" rtl="0" algn="l">
              <a:lnSpc>
                <a:spcPct val="100000"/>
              </a:lnSpc>
              <a:spcBef>
                <a:spcPts val="1400"/>
              </a:spcBef>
              <a:spcAft>
                <a:spcPts val="0"/>
              </a:spcAft>
              <a:buSzPts val="2000"/>
              <a:buNone/>
            </a:pPr>
            <a:r>
              <a:rPr lang="en-US"/>
              <a:t>a) 40  b) 60   c) 30 d) 50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13.Ram lent Rs. 400 to Suresh for 2 years, and Rs.100 to Mani for 4 years and received together from both Rs. 60 as interest. Find the rate of  interest, simple interest being calculated. </a:t>
            </a:r>
            <a:endParaRPr/>
          </a:p>
          <a:p>
            <a:pPr indent="0" lvl="0" marL="0" rtl="0" algn="l">
              <a:lnSpc>
                <a:spcPct val="100000"/>
              </a:lnSpc>
              <a:spcBef>
                <a:spcPts val="1400"/>
              </a:spcBef>
              <a:spcAft>
                <a:spcPts val="0"/>
              </a:spcAft>
              <a:buSzPts val="2000"/>
              <a:buNone/>
            </a:pPr>
            <a:r>
              <a:rPr lang="en-US"/>
              <a:t>(a) 5%( b) 6% (C) 8%(d) 9%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4" name="Google Shape;294;p6"/>
          <p:cNvSpPr txBox="1"/>
          <p:nvPr>
            <p:ph idx="1" type="body"/>
          </p:nvPr>
        </p:nvSpPr>
        <p:spPr>
          <a:xfrm>
            <a:off x="78377" y="1837509"/>
            <a:ext cx="12043954" cy="502049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14. What sum of money will amount to Rs. 520 in  5 years and to Rs. 568 in 7 years at simple interest? </a:t>
            </a:r>
            <a:endParaRPr sz="2800"/>
          </a:p>
          <a:p>
            <a:pPr indent="0" lvl="0" marL="0" rtl="0" algn="l">
              <a:lnSpc>
                <a:spcPct val="100000"/>
              </a:lnSpc>
              <a:spcBef>
                <a:spcPts val="1400"/>
              </a:spcBef>
              <a:spcAft>
                <a:spcPts val="0"/>
              </a:spcAft>
              <a:buSzPts val="2800"/>
              <a:buNone/>
            </a:pPr>
            <a:r>
              <a:rPr lang="en-US" sz="2800"/>
              <a:t>(a) Rs. 400  (b)Rs. 120  (c) Rs.. 510 (d) Rs. 220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15. At a certain sum of money at simple interest amounts to  Rs .1260 in 2 years and to Rs.1350 in 5 years. The rate percent per annum is: </a:t>
            </a:r>
            <a:endParaRPr sz="2800"/>
          </a:p>
          <a:p>
            <a:pPr indent="0" lvl="0" marL="0" rtl="0" algn="l">
              <a:lnSpc>
                <a:spcPct val="100000"/>
              </a:lnSpc>
              <a:spcBef>
                <a:spcPts val="1400"/>
              </a:spcBef>
              <a:spcAft>
                <a:spcPts val="0"/>
              </a:spcAft>
              <a:buSzPts val="2800"/>
              <a:buNone/>
            </a:pPr>
            <a:r>
              <a:rPr lang="en-US" sz="2800"/>
              <a:t>(a) 2.5% (b) 3.75% (c) 5% (d) 7.5%</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0" name="Google Shape;300;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16.Suresh borrowed Rs. 800 at 6% and Sanjay  borrowed Rs. 600 at 10%. After how much time will they both have equal debts? </a:t>
            </a:r>
            <a:endParaRPr/>
          </a:p>
          <a:p>
            <a:pPr indent="0" lvl="0" marL="0" rtl="0" algn="l">
              <a:lnSpc>
                <a:spcPct val="100000"/>
              </a:lnSpc>
              <a:spcBef>
                <a:spcPts val="1400"/>
              </a:spcBef>
              <a:spcAft>
                <a:spcPts val="0"/>
              </a:spcAft>
              <a:buSzPts val="2000"/>
              <a:buNone/>
            </a:pPr>
            <a:r>
              <a:rPr lang="en-US"/>
              <a:t>(a) 15 1/3 years (b) 14 1/2 years  (c) 18 1/3 years (d)16  2/3 years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6" name="Google Shape;306;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17.In a certain time, the ratio of a certain principal and the simple interest obtained from it are in the ratio 10 : 3 at 10% interest per annum. The number of years the money was invested is</a:t>
            </a:r>
            <a:endParaRPr/>
          </a:p>
          <a:p>
            <a:pPr indent="0" lvl="0" marL="0" rtl="0" algn="l">
              <a:lnSpc>
                <a:spcPct val="100000"/>
              </a:lnSpc>
              <a:spcBef>
                <a:spcPts val="1400"/>
              </a:spcBef>
              <a:spcAft>
                <a:spcPts val="0"/>
              </a:spcAft>
              <a:buSzPts val="2000"/>
              <a:buNone/>
            </a:pPr>
            <a:r>
              <a:rPr lang="en-US"/>
              <a:t>(a) 1 (b) 5 (C) 3 (d) 7 </a:t>
            </a:r>
            <a:endParaRPr/>
          </a:p>
          <a:p>
            <a:pPr indent="0" lvl="0" marL="0" rtl="0" algn="l">
              <a:lnSpc>
                <a:spcPct val="100000"/>
              </a:lnSpc>
              <a:spcBef>
                <a:spcPts val="1400"/>
              </a:spcBef>
              <a:spcAft>
                <a:spcPts val="0"/>
              </a:spcAft>
              <a:buSzPts val="2000"/>
              <a:buNone/>
            </a:pPr>
            <a:r>
              <a:rPr lang="en-US"/>
              <a:t>18.The Simple interest on a sum of money is 8 /25 th  of the sum. If the number of years in numerically half the rate per cent annum, then the rate percent per annum is?</a:t>
            </a:r>
            <a:endParaRPr/>
          </a:p>
          <a:p>
            <a:pPr indent="0" lvl="0" marL="0" rtl="0" algn="l">
              <a:lnSpc>
                <a:spcPct val="100000"/>
              </a:lnSpc>
              <a:spcBef>
                <a:spcPts val="1400"/>
              </a:spcBef>
              <a:spcAft>
                <a:spcPts val="0"/>
              </a:spcAft>
              <a:buSzPts val="2000"/>
              <a:buNone/>
            </a:pPr>
            <a:r>
              <a:rPr lang="en-US"/>
              <a:t> (a) 6 (b) 4 (C) 5 (d) 8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12" name="Google Shape;312;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10000"/>
          </a:bodyPr>
          <a:lstStyle/>
          <a:p>
            <a:pPr indent="0" lvl="0" marL="0" rtl="0" algn="l">
              <a:lnSpc>
                <a:spcPct val="100000"/>
              </a:lnSpc>
              <a:spcBef>
                <a:spcPts val="0"/>
              </a:spcBef>
              <a:spcAft>
                <a:spcPts val="0"/>
              </a:spcAft>
              <a:buSzPts val="2000"/>
              <a:buNone/>
            </a:pPr>
            <a:r>
              <a:rPr lang="en-US"/>
              <a:t>2. Find the compound Interest on Rs.24,000 compounded semi annually for 1 1/2 years at the rate of 10% per annum.  </a:t>
            </a:r>
            <a:endParaRPr/>
          </a:p>
          <a:p>
            <a:pPr indent="0" lvl="0" marL="0" rtl="0" algn="l">
              <a:lnSpc>
                <a:spcPct val="100000"/>
              </a:lnSpc>
              <a:spcBef>
                <a:spcPts val="1400"/>
              </a:spcBef>
              <a:spcAft>
                <a:spcPts val="0"/>
              </a:spcAft>
              <a:buSzPts val="2000"/>
              <a:buNone/>
            </a:pPr>
            <a:r>
              <a:rPr lang="en-US"/>
              <a:t>(A) Rs 3 883 (B) Rs.7,783 (C) Rs.4,781 (D) Rs. , 3 783</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3. What is the difference between the compound interests on Rs. 5000 for 1 years at 4% per annum compounded yearly and half-yearly?</a:t>
            </a:r>
            <a:endParaRPr/>
          </a:p>
          <a:p>
            <a:pPr indent="0" lvl="0" marL="0" rtl="0" algn="l">
              <a:lnSpc>
                <a:spcPct val="100000"/>
              </a:lnSpc>
              <a:spcBef>
                <a:spcPts val="1400"/>
              </a:spcBef>
              <a:spcAft>
                <a:spcPts val="0"/>
              </a:spcAft>
              <a:buSzPts val="2000"/>
              <a:buNone/>
            </a:pPr>
            <a:r>
              <a:rPr lang="en-US"/>
              <a:t>A.	Rs. 2.00		B.	Rs. 3.06		C.	Rs. 4.80		D.	Rs. 8.30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18" name="Google Shape;318;p1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	</a:t>
            </a:r>
            <a:endParaRPr/>
          </a:p>
          <a:p>
            <a:pPr indent="0" lvl="0" marL="0" rtl="0" algn="l">
              <a:lnSpc>
                <a:spcPct val="100000"/>
              </a:lnSpc>
              <a:spcBef>
                <a:spcPts val="1400"/>
              </a:spcBef>
              <a:spcAft>
                <a:spcPts val="0"/>
              </a:spcAft>
              <a:buSzPts val="2000"/>
              <a:buNone/>
            </a:pPr>
            <a:r>
              <a:rPr lang="en-US"/>
              <a:t>The difference between simple interest and compound on Rs. 1200 for one year at 10% per annum reckoned half-yearly is:</a:t>
            </a:r>
            <a:endParaRPr/>
          </a:p>
          <a:p>
            <a:pPr indent="0" lvl="0" marL="0" rtl="0" algn="l">
              <a:lnSpc>
                <a:spcPct val="100000"/>
              </a:lnSpc>
              <a:spcBef>
                <a:spcPts val="1400"/>
              </a:spcBef>
              <a:spcAft>
                <a:spcPts val="0"/>
              </a:spcAft>
              <a:buSzPts val="2000"/>
              <a:buNone/>
            </a:pPr>
            <a:r>
              <a:rPr lang="en-US"/>
              <a:t>A.	Rs. 2.50		B.	Rs. 3		C.	Rs. 3.75		D.	Rs. 4	E.	None of these</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5. Arif took a loan of Rs.80,000 from a bank. If the rate of intere Is 10% p. a., find the difference In amounts he would be paying after 1 1/2 years if the interest Is (i) compounded annually and (ii) compounded half yearly. </a:t>
            </a:r>
            <a:endParaRPr/>
          </a:p>
          <a:p>
            <a:pPr indent="0" lvl="0" marL="0" rtl="0" algn="l">
              <a:lnSpc>
                <a:spcPct val="100000"/>
              </a:lnSpc>
              <a:spcBef>
                <a:spcPts val="1400"/>
              </a:spcBef>
              <a:spcAft>
                <a:spcPts val="0"/>
              </a:spcAft>
              <a:buSzPts val="2000"/>
              <a:buNone/>
            </a:pPr>
            <a:r>
              <a:rPr lang="en-US"/>
              <a:t>(A) Rs.210 (B) Rs.110 (C) Rs.100 (0) Rs.310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24" name="Google Shape;324;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6.Find the Principal that will yield a compound interest of Rs.1,632 in 2 years at 4% rate of interest per annum.</a:t>
            </a:r>
            <a:endParaRPr/>
          </a:p>
          <a:p>
            <a:pPr indent="0" lvl="0" marL="0" rtl="0" algn="l">
              <a:lnSpc>
                <a:spcPct val="100000"/>
              </a:lnSpc>
              <a:spcBef>
                <a:spcPts val="1400"/>
              </a:spcBef>
              <a:spcAft>
                <a:spcPts val="0"/>
              </a:spcAft>
              <a:buSzPts val="2000"/>
              <a:buNone/>
            </a:pPr>
            <a:r>
              <a:rPr lang="en-US"/>
              <a:t>(A) Rs.25,000 (B)Rs.28,000 (C) Rs.20,000 (D)Rs.10,000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7.The sum of 2 years gives a compound interest of Rs.3225 at 15% rate. Then sum is:                </a:t>
            </a:r>
            <a:endParaRPr/>
          </a:p>
          <a:p>
            <a:pPr indent="0" lvl="0" marL="0" rtl="0" algn="l">
              <a:lnSpc>
                <a:spcPct val="100000"/>
              </a:lnSpc>
              <a:spcBef>
                <a:spcPts val="1400"/>
              </a:spcBef>
              <a:spcAft>
                <a:spcPts val="0"/>
              </a:spcAft>
              <a:buSzPts val="2000"/>
              <a:buNone/>
            </a:pPr>
            <a:r>
              <a:rPr lang="en-US"/>
              <a:t>(a) 10000 (b) 15000 (c) 2000 (d) 32250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0" name="Google Shape;330;p1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8.A man invested a sum of money at compound interest. It amounted to Rs. 2420 in 2 years and to Rs.2662 in 3 years. Find the sum. </a:t>
            </a:r>
            <a:endParaRPr sz="2800"/>
          </a:p>
          <a:p>
            <a:pPr indent="0" lvl="0" marL="0" rtl="0" algn="l">
              <a:lnSpc>
                <a:spcPct val="100000"/>
              </a:lnSpc>
              <a:spcBef>
                <a:spcPts val="1400"/>
              </a:spcBef>
              <a:spcAft>
                <a:spcPts val="0"/>
              </a:spcAft>
              <a:buSzPts val="2800"/>
              <a:buNone/>
            </a:pPr>
            <a:r>
              <a:rPr lang="en-US" sz="2800"/>
              <a:t> (a) 2000 (b)  3000 (c)  1000 (d)  5082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9.If the rate of interest be 4% per annum for first year, 5% per annum for second year and 6%  per annum for third year, then the compound interest of Rs.10000 for 3 years Will be:                     </a:t>
            </a:r>
            <a:endParaRPr sz="2800"/>
          </a:p>
          <a:p>
            <a:pPr indent="0" lvl="0" marL="0" rtl="0" algn="l">
              <a:lnSpc>
                <a:spcPct val="100000"/>
              </a:lnSpc>
              <a:spcBef>
                <a:spcPts val="1400"/>
              </a:spcBef>
              <a:spcAft>
                <a:spcPts val="0"/>
              </a:spcAft>
              <a:buSzPts val="2800"/>
              <a:buNone/>
            </a:pPr>
            <a:r>
              <a:rPr lang="en-US" sz="2800"/>
              <a:t>  (a) 1575.20 (b)  1600 (c)  1625.80 (d)  2000 </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6" name="Google Shape;336;p1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10.The difference between C. I. and S. I. for 2 years on a sum of money lent at 5% p.a. is Rs.5. Find the sum of money lent. </a:t>
            </a:r>
            <a:endParaRPr sz="2800"/>
          </a:p>
          <a:p>
            <a:pPr indent="0" lvl="0" marL="0" rtl="0" algn="l">
              <a:lnSpc>
                <a:spcPct val="100000"/>
              </a:lnSpc>
              <a:spcBef>
                <a:spcPts val="1400"/>
              </a:spcBef>
              <a:spcAft>
                <a:spcPts val="0"/>
              </a:spcAft>
              <a:buSzPts val="2800"/>
              <a:buNone/>
            </a:pPr>
            <a:r>
              <a:rPr lang="en-US" sz="2800"/>
              <a:t>(A)Rs.2,300.B)Rs.2,000 (C)Rs.2,225 (D)Rs.1,125 </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42" name="Google Shape;342;p1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17.The present ages of three persons in proportions 4 : 7 : 9. Eight years ago, the sum of their ages was 56. Find their present ages (in years).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A.	8, 20, 28</a:t>
            </a:r>
            <a:endParaRPr/>
          </a:p>
          <a:p>
            <a:pPr indent="0" lvl="0" marL="0" rtl="0" algn="l">
              <a:lnSpc>
                <a:spcPct val="100000"/>
              </a:lnSpc>
              <a:spcBef>
                <a:spcPts val="1400"/>
              </a:spcBef>
              <a:spcAft>
                <a:spcPts val="0"/>
              </a:spcAft>
              <a:buSzPts val="2000"/>
              <a:buNone/>
            </a:pPr>
            <a:r>
              <a:rPr lang="en-US"/>
              <a:t>B.	16, 28, 36</a:t>
            </a:r>
            <a:endParaRPr/>
          </a:p>
          <a:p>
            <a:pPr indent="0" lvl="0" marL="0" rtl="0" algn="l">
              <a:lnSpc>
                <a:spcPct val="100000"/>
              </a:lnSpc>
              <a:spcBef>
                <a:spcPts val="1400"/>
              </a:spcBef>
              <a:spcAft>
                <a:spcPts val="0"/>
              </a:spcAft>
              <a:buSzPts val="2000"/>
              <a:buNone/>
            </a:pPr>
            <a:r>
              <a:rPr lang="en-US"/>
              <a:t>C.	20, 35, 45</a:t>
            </a:r>
            <a:endParaRPr/>
          </a:p>
          <a:p>
            <a:pPr indent="0" lvl="0" marL="0" rtl="0" algn="l">
              <a:lnSpc>
                <a:spcPct val="100000"/>
              </a:lnSpc>
              <a:spcBef>
                <a:spcPts val="1400"/>
              </a:spcBef>
              <a:spcAft>
                <a:spcPts val="0"/>
              </a:spcAft>
              <a:buSzPts val="2000"/>
              <a:buNone/>
            </a:pPr>
            <a:r>
              <a:rPr lang="en-US"/>
              <a:t>D.	None of these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48" name="Google Shape;348;p1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18. The sum of the ages of A and B is.42 years. 3 years back, the age of A was 5 times of age of B. Find the difference between the present ages of A and B?</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(a) 24 (b) 22 (c) 12 (d) 18</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54" name="Google Shape;354;p1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19.The ratio between the present ages of M and N is 5: 3 respectively. The ratio between M's age 4 years‘ago an N’s age after 4 years is 1: 1'. What is the ratio between M’s age after 4 years and N’s age 4 years ago? </a:t>
            </a:r>
            <a:endParaRPr/>
          </a:p>
          <a:p>
            <a:pPr indent="0" lvl="0" marL="0" rtl="0" algn="l">
              <a:lnSpc>
                <a:spcPct val="100000"/>
              </a:lnSpc>
              <a:spcBef>
                <a:spcPts val="1400"/>
              </a:spcBef>
              <a:spcAft>
                <a:spcPts val="0"/>
              </a:spcAft>
              <a:buSzPts val="2000"/>
              <a:buNone/>
            </a:pPr>
            <a:r>
              <a:rPr lang="en-US"/>
              <a:t> </a:t>
            </a:r>
            <a:endParaRPr/>
          </a:p>
          <a:p>
            <a:pPr indent="0" lvl="0" marL="0" rtl="0" algn="l">
              <a:lnSpc>
                <a:spcPct val="100000"/>
              </a:lnSpc>
              <a:spcBef>
                <a:spcPts val="1400"/>
              </a:spcBef>
              <a:spcAft>
                <a:spcPts val="0"/>
              </a:spcAft>
              <a:buSzPts val="2000"/>
              <a:buNone/>
            </a:pPr>
            <a:r>
              <a:rPr lang="en-US"/>
              <a:t> (a)2:1  (b) 1:3 (c) 4:1  (d) 3:1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60" name="Google Shape;360;p1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20. A father said to his son "I was as old as you are present at the time of your birth". If the father's age is 38 years now, the son's age five years back was:</a:t>
            </a:r>
            <a:endParaRPr/>
          </a:p>
          <a:p>
            <a:pPr indent="0" lvl="0" marL="0" rtl="0" algn="l">
              <a:lnSpc>
                <a:spcPct val="100000"/>
              </a:lnSpc>
              <a:spcBef>
                <a:spcPts val="1400"/>
              </a:spcBef>
              <a:spcAft>
                <a:spcPts val="0"/>
              </a:spcAft>
              <a:buSzPts val="2000"/>
              <a:buNone/>
            </a:pPr>
            <a:r>
              <a:rPr lang="en-US"/>
              <a:t>(a) 14 years b) 19 years c) 18 years d) 13 years</a:t>
            </a:r>
            <a:endParaRPr/>
          </a:p>
          <a:p>
            <a:pPr indent="0" lvl="0" marL="0" rtl="0" algn="l">
              <a:lnSpc>
                <a:spcPct val="100000"/>
              </a:lnSpc>
              <a:spcBef>
                <a:spcPts val="1400"/>
              </a:spcBef>
              <a:spcAft>
                <a:spcPts val="0"/>
              </a:spcAft>
              <a:buSzPts val="200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66" name="Google Shape;366;p1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EA27ACC2A4404A6EAD8D708EEC2DE338</vt:lpwstr>
  </property>
  <property fmtid="{D5CDD505-2E9C-101B-9397-08002B2CF9AE}" pid="4" name="KSOProductBuildVer">
    <vt:lpwstr>1033-11.2.0.11191</vt:lpwstr>
  </property>
</Properties>
</file>