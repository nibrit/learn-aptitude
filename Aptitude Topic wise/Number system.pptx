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6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hwR8YY2Rg7ZA4i2WRQ2C9jMCBb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75c7b6df9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75c7b6df9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375c7b6df92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showMasterSp="0">
  <p:cSld name="1_Title Slid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0"/>
          <p:cNvSpPr/>
          <p:nvPr/>
        </p:nvSpPr>
        <p:spPr>
          <a:xfrm>
            <a:off x="7972121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0"/>
          <p:cNvSpPr/>
          <p:nvPr/>
        </p:nvSpPr>
        <p:spPr>
          <a:xfrm>
            <a:off x="6394450" y="0"/>
            <a:ext cx="153926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0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20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20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20"/>
          <p:cNvSpPr/>
          <p:nvPr>
            <p:ph idx="2" type="pic"/>
          </p:nvPr>
        </p:nvSpPr>
        <p:spPr>
          <a:xfrm>
            <a:off x="0" y="0"/>
            <a:ext cx="63119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1" name="Google Shape;21;p20"/>
          <p:cNvSpPr txBox="1"/>
          <p:nvPr>
            <p:ph type="ctrTitle"/>
          </p:nvPr>
        </p:nvSpPr>
        <p:spPr>
          <a:xfrm>
            <a:off x="6629400" y="758952"/>
            <a:ext cx="4526280" cy="3227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b="1" sz="6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0"/>
          <p:cNvSpPr txBox="1"/>
          <p:nvPr>
            <p:ph idx="1" type="subTitle"/>
          </p:nvPr>
        </p:nvSpPr>
        <p:spPr>
          <a:xfrm>
            <a:off x="6632171" y="4508500"/>
            <a:ext cx="4526280" cy="1279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" name="Google Shape;23;p20"/>
          <p:cNvSpPr/>
          <p:nvPr/>
        </p:nvSpPr>
        <p:spPr>
          <a:xfrm>
            <a:off x="6311900" y="0"/>
            <a:ext cx="15392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1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21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21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2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22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22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22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" name="Google Shape;35;p22"/>
          <p:cNvSpPr txBox="1"/>
          <p:nvPr>
            <p:ph idx="1" type="subTitle"/>
          </p:nvPr>
        </p:nvSpPr>
        <p:spPr>
          <a:xfrm>
            <a:off x="1212850" y="4508500"/>
            <a:ext cx="5118100" cy="1279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" name="Google Shape;36;p22"/>
          <p:cNvSpPr txBox="1"/>
          <p:nvPr>
            <p:ph type="ctrTitle"/>
          </p:nvPr>
        </p:nvSpPr>
        <p:spPr>
          <a:xfrm>
            <a:off x="1212850" y="2057400"/>
            <a:ext cx="5118100" cy="19290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  <a:defRPr b="1" sz="5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>
  <p:cSld name="Section Header">
    <p:bg>
      <p:bgPr>
        <a:solidFill>
          <a:schemeClr val="lt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3"/>
          <p:cNvSpPr/>
          <p:nvPr/>
        </p:nvSpPr>
        <p:spPr>
          <a:xfrm>
            <a:off x="7972121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3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23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23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" name="Google Shape;42;p23"/>
          <p:cNvSpPr/>
          <p:nvPr>
            <p:ph idx="2" type="pic"/>
          </p:nvPr>
        </p:nvSpPr>
        <p:spPr>
          <a:xfrm>
            <a:off x="0" y="0"/>
            <a:ext cx="63119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23"/>
          <p:cNvSpPr/>
          <p:nvPr/>
        </p:nvSpPr>
        <p:spPr>
          <a:xfrm>
            <a:off x="2451099" y="3568700"/>
            <a:ext cx="8721725" cy="2308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3"/>
          <p:cNvSpPr txBox="1"/>
          <p:nvPr>
            <p:ph type="title"/>
          </p:nvPr>
        </p:nvSpPr>
        <p:spPr>
          <a:xfrm>
            <a:off x="2641599" y="3746500"/>
            <a:ext cx="8331202" cy="130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b="1" sz="4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3"/>
          <p:cNvSpPr txBox="1"/>
          <p:nvPr>
            <p:ph idx="1" type="body"/>
          </p:nvPr>
        </p:nvSpPr>
        <p:spPr>
          <a:xfrm>
            <a:off x="2641600" y="5219700"/>
            <a:ext cx="8331201" cy="586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23"/>
          <p:cNvSpPr/>
          <p:nvPr/>
        </p:nvSpPr>
        <p:spPr>
          <a:xfrm>
            <a:off x="3752850" y="3469101"/>
            <a:ext cx="511810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 showMasterSp="0">
  <p:cSld name="1_Section Header">
    <p:bg>
      <p:bgPr>
        <a:solidFill>
          <a:schemeClr val="l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4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24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24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" name="Google Shape;51;p24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24"/>
          <p:cNvSpPr/>
          <p:nvPr/>
        </p:nvSpPr>
        <p:spPr>
          <a:xfrm>
            <a:off x="1735138" y="3568700"/>
            <a:ext cx="8721725" cy="2308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4"/>
          <p:cNvSpPr txBox="1"/>
          <p:nvPr>
            <p:ph type="title"/>
          </p:nvPr>
        </p:nvSpPr>
        <p:spPr>
          <a:xfrm>
            <a:off x="1930399" y="3746500"/>
            <a:ext cx="8331202" cy="130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b="1" sz="4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4"/>
          <p:cNvSpPr txBox="1"/>
          <p:nvPr>
            <p:ph idx="1" type="body"/>
          </p:nvPr>
        </p:nvSpPr>
        <p:spPr>
          <a:xfrm>
            <a:off x="1930400" y="5219700"/>
            <a:ext cx="8331201" cy="586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5" name="Google Shape;55;p24"/>
          <p:cNvSpPr/>
          <p:nvPr/>
        </p:nvSpPr>
        <p:spPr>
          <a:xfrm>
            <a:off x="3536950" y="3469101"/>
            <a:ext cx="511810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5"/>
          <p:cNvSpPr txBox="1"/>
          <p:nvPr>
            <p:ph idx="1" type="body"/>
          </p:nvPr>
        </p:nvSpPr>
        <p:spPr>
          <a:xfrm>
            <a:off x="1097280" y="2120900"/>
            <a:ext cx="4639736" cy="3748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2" type="body"/>
          </p:nvPr>
        </p:nvSpPr>
        <p:spPr>
          <a:xfrm>
            <a:off x="6515944" y="2120900"/>
            <a:ext cx="4639736" cy="3748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25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25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6"/>
          <p:cNvSpPr txBox="1"/>
          <p:nvPr>
            <p:ph idx="1" type="body"/>
          </p:nvPr>
        </p:nvSpPr>
        <p:spPr>
          <a:xfrm>
            <a:off x="1097280" y="2057400"/>
            <a:ext cx="4639736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6" name="Google Shape;66;p26"/>
          <p:cNvSpPr txBox="1"/>
          <p:nvPr>
            <p:ph idx="2" type="body"/>
          </p:nvPr>
        </p:nvSpPr>
        <p:spPr>
          <a:xfrm>
            <a:off x="1186731" y="2958274"/>
            <a:ext cx="4639736" cy="2910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3" type="body"/>
          </p:nvPr>
        </p:nvSpPr>
        <p:spPr>
          <a:xfrm>
            <a:off x="6515944" y="2057400"/>
            <a:ext cx="4639736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8" name="Google Shape;68;p26"/>
          <p:cNvSpPr txBox="1"/>
          <p:nvPr>
            <p:ph idx="4" type="body"/>
          </p:nvPr>
        </p:nvSpPr>
        <p:spPr>
          <a:xfrm>
            <a:off x="6605395" y="2958273"/>
            <a:ext cx="4639736" cy="2910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9" name="Google Shape;69;p26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26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26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/>
          <p:nvPr/>
        </p:nvSpPr>
        <p:spPr>
          <a:xfrm>
            <a:off x="46672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8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28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28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9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9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9"/>
          <p:cNvSpPr txBox="1"/>
          <p:nvPr>
            <p:ph type="title"/>
          </p:nvPr>
        </p:nvSpPr>
        <p:spPr>
          <a:xfrm>
            <a:off x="1092200" y="786383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9"/>
          <p:cNvSpPr txBox="1"/>
          <p:nvPr>
            <p:ph idx="1" type="body"/>
          </p:nvPr>
        </p:nvSpPr>
        <p:spPr>
          <a:xfrm>
            <a:off x="5458984" y="812800"/>
            <a:ext cx="5713841" cy="4868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4" name="Google Shape;84;p29"/>
          <p:cNvSpPr txBox="1"/>
          <p:nvPr>
            <p:ph idx="2" type="body"/>
          </p:nvPr>
        </p:nvSpPr>
        <p:spPr>
          <a:xfrm>
            <a:off x="1092200" y="3043050"/>
            <a:ext cx="3068832" cy="2638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5" name="Google Shape;85;p29"/>
          <p:cNvSpPr/>
          <p:nvPr/>
        </p:nvSpPr>
        <p:spPr>
          <a:xfrm>
            <a:off x="0" y="1397000"/>
            <a:ext cx="1036320" cy="13294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9"/>
          <p:cNvSpPr/>
          <p:nvPr/>
        </p:nvSpPr>
        <p:spPr>
          <a:xfrm>
            <a:off x="5458983" y="624142"/>
            <a:ext cx="571384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9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29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29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0" name="Google Shape;90;p29"/>
          <p:cNvCxnSpPr/>
          <p:nvPr/>
        </p:nvCxnSpPr>
        <p:spPr>
          <a:xfrm rot="10800000">
            <a:off x="1092200" y="6446838"/>
            <a:ext cx="1643438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" name="Google Shape;91;p29"/>
          <p:cNvCxnSpPr/>
          <p:nvPr/>
        </p:nvCxnSpPr>
        <p:spPr>
          <a:xfrm rot="10800000">
            <a:off x="8420100" y="6429376"/>
            <a:ext cx="1000462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" name="Google Shape;92;p29"/>
          <p:cNvCxnSpPr/>
          <p:nvPr/>
        </p:nvCxnSpPr>
        <p:spPr>
          <a:xfrm rot="10800000">
            <a:off x="10765675" y="6446838"/>
            <a:ext cx="407258" cy="635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0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0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6" name="Google Shape;96;p30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30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30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ent with Caption" showMasterSp="0">
  <p:cSld name="1_Content with Ca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1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1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1"/>
          <p:cNvSpPr txBox="1"/>
          <p:nvPr>
            <p:ph idx="1" type="body"/>
          </p:nvPr>
        </p:nvSpPr>
        <p:spPr>
          <a:xfrm>
            <a:off x="5458984" y="497808"/>
            <a:ext cx="5713841" cy="4868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03" name="Google Shape;103;p31"/>
          <p:cNvSpPr/>
          <p:nvPr/>
        </p:nvSpPr>
        <p:spPr>
          <a:xfrm>
            <a:off x="0" y="2003424"/>
            <a:ext cx="1036320" cy="18573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1"/>
          <p:cNvSpPr/>
          <p:nvPr/>
        </p:nvSpPr>
        <p:spPr>
          <a:xfrm>
            <a:off x="5458983" y="377398"/>
            <a:ext cx="571384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1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6" name="Google Shape;106;p31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7" name="Google Shape;107;p31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" name="Google Shape;108;p31"/>
          <p:cNvSpPr/>
          <p:nvPr/>
        </p:nvSpPr>
        <p:spPr>
          <a:xfrm>
            <a:off x="1078230" y="2003423"/>
            <a:ext cx="3576082" cy="1857378"/>
          </a:xfrm>
          <a:prstGeom prst="rect">
            <a:avLst/>
          </a:prstGeom>
          <a:solidFill>
            <a:srgbClr val="2730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1"/>
          <p:cNvSpPr txBox="1"/>
          <p:nvPr>
            <p:ph type="title"/>
          </p:nvPr>
        </p:nvSpPr>
        <p:spPr>
          <a:xfrm>
            <a:off x="1092200" y="1885125"/>
            <a:ext cx="3314700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1"/>
          <p:cNvSpPr/>
          <p:nvPr/>
        </p:nvSpPr>
        <p:spPr>
          <a:xfrm>
            <a:off x="1092200" y="993775"/>
            <a:ext cx="1036320" cy="936626"/>
          </a:xfrm>
          <a:prstGeom prst="rect">
            <a:avLst/>
          </a:prstGeom>
          <a:solidFill>
            <a:srgbClr val="CFD3E6">
              <a:alpha val="2588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ontent with Caption" showMasterSp="0">
  <p:cSld name="2_Content with Caption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2"/>
          <p:cNvSpPr/>
          <p:nvPr>
            <p:ph idx="2" type="pic"/>
          </p:nvPr>
        </p:nvSpPr>
        <p:spPr>
          <a:xfrm>
            <a:off x="0" y="0"/>
            <a:ext cx="4654296" cy="5864225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32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2"/>
          <p:cNvSpPr txBox="1"/>
          <p:nvPr>
            <p:ph idx="1" type="body"/>
          </p:nvPr>
        </p:nvSpPr>
        <p:spPr>
          <a:xfrm>
            <a:off x="5458984" y="497808"/>
            <a:ext cx="5713841" cy="4868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15" name="Google Shape;115;p32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6" name="Google Shape;116;p32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32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32"/>
          <p:cNvSpPr txBox="1"/>
          <p:nvPr>
            <p:ph type="title"/>
          </p:nvPr>
        </p:nvSpPr>
        <p:spPr>
          <a:xfrm>
            <a:off x="1092200" y="1885125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i="0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ontent with Caption" showMasterSp="0">
  <p:cSld name="6_Content with Caption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3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3"/>
          <p:cNvSpPr txBox="1"/>
          <p:nvPr>
            <p:ph type="title"/>
          </p:nvPr>
        </p:nvSpPr>
        <p:spPr>
          <a:xfrm>
            <a:off x="4984722" y="548355"/>
            <a:ext cx="6054846" cy="634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1" i="0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33"/>
          <p:cNvSpPr txBox="1"/>
          <p:nvPr>
            <p:ph idx="1" type="body"/>
          </p:nvPr>
        </p:nvSpPr>
        <p:spPr>
          <a:xfrm>
            <a:off x="5100833" y="1611313"/>
            <a:ext cx="6072099" cy="375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23" name="Google Shape;123;p33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4" name="Google Shape;124;p33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5" name="Google Shape;125;p33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p33"/>
          <p:cNvSpPr/>
          <p:nvPr>
            <p:ph idx="2" type="pic"/>
          </p:nvPr>
        </p:nvSpPr>
        <p:spPr>
          <a:xfrm>
            <a:off x="0" y="0"/>
            <a:ext cx="4654296" cy="586422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ontent with Caption" showMasterSp="0">
  <p:cSld name="7_Content with Ca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4"/>
          <p:cNvSpPr/>
          <p:nvPr>
            <p:ph idx="2" type="pic"/>
          </p:nvPr>
        </p:nvSpPr>
        <p:spPr>
          <a:xfrm>
            <a:off x="0" y="0"/>
            <a:ext cx="12192000" cy="3541486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34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4"/>
          <p:cNvSpPr txBox="1"/>
          <p:nvPr>
            <p:ph type="title"/>
          </p:nvPr>
        </p:nvSpPr>
        <p:spPr>
          <a:xfrm>
            <a:off x="3068577" y="880375"/>
            <a:ext cx="6054846" cy="634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  <a:defRPr b="1" i="0" sz="3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4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2" name="Google Shape;132;p34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3" name="Google Shape;133;p34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4" name="Google Shape;134;p34"/>
          <p:cNvSpPr/>
          <p:nvPr/>
        </p:nvSpPr>
        <p:spPr>
          <a:xfrm>
            <a:off x="5577840" y="0"/>
            <a:ext cx="103632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ontent with Caption" showMasterSp="0">
  <p:cSld name="3_Content with Caption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5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5"/>
          <p:cNvSpPr/>
          <p:nvPr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5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5"/>
          <p:cNvSpPr txBox="1"/>
          <p:nvPr>
            <p:ph type="title"/>
          </p:nvPr>
        </p:nvSpPr>
        <p:spPr>
          <a:xfrm>
            <a:off x="1092200" y="1885125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i="0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5"/>
          <p:cNvSpPr txBox="1"/>
          <p:nvPr>
            <p:ph idx="1" type="body"/>
          </p:nvPr>
        </p:nvSpPr>
        <p:spPr>
          <a:xfrm>
            <a:off x="6473373" y="943430"/>
            <a:ext cx="4699452" cy="3977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41" name="Google Shape;141;p35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2" name="Google Shape;142;p35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3" name="Google Shape;143;p35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p35"/>
          <p:cNvSpPr/>
          <p:nvPr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rgbClr val="BECA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ontent with Caption" showMasterSp="0">
  <p:cSld name="4_Content with Caption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6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6"/>
          <p:cNvSpPr/>
          <p:nvPr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6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36"/>
          <p:cNvSpPr txBox="1"/>
          <p:nvPr>
            <p:ph type="title"/>
          </p:nvPr>
        </p:nvSpPr>
        <p:spPr>
          <a:xfrm>
            <a:off x="1092200" y="1885125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i="0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6"/>
          <p:cNvSpPr txBox="1"/>
          <p:nvPr>
            <p:ph idx="1" type="body"/>
          </p:nvPr>
        </p:nvSpPr>
        <p:spPr>
          <a:xfrm>
            <a:off x="6518529" y="943430"/>
            <a:ext cx="4654296" cy="3977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51" name="Google Shape;151;p36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2" name="Google Shape;152;p36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3" name="Google Shape;153;p36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4" name="Google Shape;154;p36"/>
          <p:cNvSpPr/>
          <p:nvPr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7"/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37"/>
          <p:cNvSpPr/>
          <p:nvPr>
            <p:ph idx="2" type="pic"/>
          </p:nvPr>
        </p:nvSpPr>
        <p:spPr>
          <a:xfrm>
            <a:off x="15" y="0"/>
            <a:ext cx="12191985" cy="45783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8" name="Google Shape;158;p37"/>
          <p:cNvSpPr txBox="1"/>
          <p:nvPr>
            <p:ph type="title"/>
          </p:nvPr>
        </p:nvSpPr>
        <p:spPr>
          <a:xfrm>
            <a:off x="1097279" y="4799362"/>
            <a:ext cx="10113645" cy="74368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sz="44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37"/>
          <p:cNvSpPr txBox="1"/>
          <p:nvPr>
            <p:ph idx="1" type="body"/>
          </p:nvPr>
        </p:nvSpPr>
        <p:spPr>
          <a:xfrm>
            <a:off x="1097279" y="5715000"/>
            <a:ext cx="10113264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60" name="Google Shape;160;p37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1" name="Google Shape;161;p37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2" name="Google Shape;162;p37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3" name="Google Shape;163;p37"/>
          <p:cNvSpPr/>
          <p:nvPr/>
        </p:nvSpPr>
        <p:spPr>
          <a:xfrm>
            <a:off x="3536950" y="4535901"/>
            <a:ext cx="5118100" cy="1256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8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8"/>
          <p:cNvSpPr txBox="1"/>
          <p:nvPr>
            <p:ph idx="1" type="body"/>
          </p:nvPr>
        </p:nvSpPr>
        <p:spPr>
          <a:xfrm rot="5400000">
            <a:off x="3548743" y="-1715589"/>
            <a:ext cx="5024845" cy="12122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67" name="Google Shape;167;p38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8" name="Google Shape;168;p38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9" name="Google Shape;169;p38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9"/>
          <p:cNvSpPr txBox="1"/>
          <p:nvPr>
            <p:ph type="title"/>
          </p:nvPr>
        </p:nvSpPr>
        <p:spPr>
          <a:xfrm rot="5400000">
            <a:off x="7683554" y="2387546"/>
            <a:ext cx="4530725" cy="24480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39"/>
          <p:cNvSpPr txBox="1"/>
          <p:nvPr>
            <p:ph idx="1" type="body"/>
          </p:nvPr>
        </p:nvSpPr>
        <p:spPr>
          <a:xfrm rot="5400000">
            <a:off x="2566989" y="-128588"/>
            <a:ext cx="4530723" cy="7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73" name="Google Shape;173;p39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4" name="Google Shape;174;p39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5" name="Google Shape;175;p39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6" name="Google Shape;176;p39"/>
          <p:cNvSpPr/>
          <p:nvPr/>
        </p:nvSpPr>
        <p:spPr>
          <a:xfrm rot="-5400000">
            <a:off x="8871481" y="-146580"/>
            <a:ext cx="1036320" cy="13294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4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6" name="Google Shape;186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4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2" name="Google Shape;192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4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8" name="Google Shape;198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4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4" name="Google Shape;204;p4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5" name="Google Shape;205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4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11" name="Google Shape;211;p4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2" name="Google Shape;212;p4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13" name="Google Shape;213;p4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4" name="Google Shape;214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4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29" name="Google Shape;229;p4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30" name="Google Shape;230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4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4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37" name="Google Shape;237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5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5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3" name="Google Shape;243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5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5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9" name="Google Shape;249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0.xml"/><Relationship Id="rId22" Type="http://schemas.openxmlformats.org/officeDocument/2006/relationships/theme" Target="../theme/theme3.xml"/><Relationship Id="rId10" Type="http://schemas.openxmlformats.org/officeDocument/2006/relationships/slideLayout" Target="../slideLayouts/slideLayout9.xml"/><Relationship Id="rId21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0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/>
          <p:nvPr/>
        </p:nvSpPr>
        <p:spPr>
          <a:xfrm>
            <a:off x="46672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9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1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9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3" name="Google Shape;13;p1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4503" y="-95794"/>
            <a:ext cx="12087497" cy="183315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87">
          <p15:clr>
            <a:srgbClr val="F26B43"/>
          </p15:clr>
        </p15:guide>
        <p15:guide id="2" pos="688">
          <p15:clr>
            <a:srgbClr val="F26B43"/>
          </p15:clr>
        </p15:guide>
        <p15:guide id="3" pos="7038">
          <p15:clr>
            <a:srgbClr val="F26B43"/>
          </p15:clr>
        </p15:guide>
        <p15:guide id="4" orient="horz" pos="3702">
          <p15:clr>
            <a:srgbClr val="F26B43"/>
          </p15:clr>
        </p15:guide>
        <p15:guide id="5" orient="horz" pos="4065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9" name="Google Shape;179;p4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0" name="Google Shape;180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1" name="Google Shape;181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2" name="Google Shape;182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"/>
          <p:cNvSpPr txBox="1"/>
          <p:nvPr>
            <p:ph type="ctrTitle"/>
          </p:nvPr>
        </p:nvSpPr>
        <p:spPr>
          <a:xfrm>
            <a:off x="6629399" y="696686"/>
            <a:ext cx="5144589" cy="32897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0"/>
              <a:buFont typeface="Calibri"/>
              <a:buNone/>
            </a:pPr>
            <a:r>
              <a:rPr lang="en-US">
                <a:solidFill>
                  <a:srgbClr val="FF0000"/>
                </a:solidFill>
              </a:rPr>
              <a:t>Number system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58" name="Google Shape;258;p1"/>
          <p:cNvSpPr txBox="1"/>
          <p:nvPr>
            <p:ph idx="1" type="subTitle"/>
          </p:nvPr>
        </p:nvSpPr>
        <p:spPr>
          <a:xfrm>
            <a:off x="6632171" y="4508500"/>
            <a:ext cx="4526280" cy="1279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VIGNESH M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64" name="Google Shape;264;p2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1.If a number 824X97 is exactly divisible by 11,what will be the value of X?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(a) 9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(b)  4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(c) 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(d)  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70" name="Google Shape;270;p3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2.Let N=5ab42ab. If N is exactly divisible by 180, then the sum of the digits in N is 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(a) 18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(b) 24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(c) 27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(d) 36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76" name="Google Shape;276;p4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3.If the product 4864 * 9 P 2 is divisible by 12, then find the value of p.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(a)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(b) 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(c) 3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(d) 5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82" name="Google Shape;282;p5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/>
              <a:t>4.476 ** 0 is divisible by both 3 and 11. Find the non zero digits in the hundred's and ten's places are respectively.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(a) 6 and 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(b) 6 and 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(c) 8 and 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(d) 8 and 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5.. If x and y are the two digits of the number 653xy such that this number is divisible by 80, then x + y is equal to?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(a) 6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(b) 3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(d) 4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(e) 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6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88" name="Google Shape;288;p6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6.Find number of factors for the number 240 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(a)   18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(b)   12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(c)    14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(d)   20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7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94" name="Google Shape;294;p7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/>
              <a:t>7.How many factors of  2</a:t>
            </a:r>
            <a:r>
              <a:rPr baseline="30000" lang="en-US"/>
              <a:t>4</a:t>
            </a:r>
            <a:r>
              <a:rPr lang="en-US"/>
              <a:t> * 5</a:t>
            </a:r>
            <a:r>
              <a:rPr baseline="30000" lang="en-US"/>
              <a:t>3</a:t>
            </a:r>
            <a:r>
              <a:rPr lang="en-US"/>
              <a:t> * 7</a:t>
            </a:r>
            <a:r>
              <a:rPr baseline="30000" lang="en-US"/>
              <a:t>4</a:t>
            </a:r>
            <a:r>
              <a:rPr lang="en-US"/>
              <a:t> are odd numbers?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(a) 20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(b) 24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(c) 99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(d) 100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8.Find the number of even factors of 5040?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(a) 42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(b) 46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(c) 48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(d) 52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8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00" name="Google Shape;300;p8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/>
              <a:t>9.Find the smallest number that has exactly 18 factors.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(a) 180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(b) 216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(c) 240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(d) 280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10.How many factors of 2</a:t>
            </a:r>
            <a:r>
              <a:rPr baseline="30000" lang="en-US"/>
              <a:t>5</a:t>
            </a:r>
            <a:r>
              <a:rPr lang="en-US"/>
              <a:t> * 3</a:t>
            </a:r>
            <a:r>
              <a:rPr baseline="30000" lang="en-US"/>
              <a:t>6</a:t>
            </a:r>
            <a:r>
              <a:rPr lang="en-US"/>
              <a:t> * 5</a:t>
            </a:r>
            <a:r>
              <a:rPr baseline="30000" lang="en-US"/>
              <a:t>2</a:t>
            </a:r>
            <a:r>
              <a:rPr lang="en-US"/>
              <a:t> are perfect squares?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(a) 18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(b) 24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(c) 8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(d) 36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06" name="Google Shape;306;p9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11.What will the digit in the unit position of (144)</a:t>
            </a:r>
            <a:r>
              <a:rPr baseline="30000" lang="en-US"/>
              <a:t>132</a:t>
            </a:r>
            <a:r>
              <a:rPr lang="en-US"/>
              <a:t>  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(a) 6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(b) 4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(c) 2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(d) None of these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12. Determine the digit in the units position of  13</a:t>
            </a:r>
            <a:r>
              <a:rPr baseline="30000" lang="en-US"/>
              <a:t>23</a:t>
            </a:r>
            <a:r>
              <a:rPr lang="en-US"/>
              <a:t> x 27</a:t>
            </a:r>
            <a:r>
              <a:rPr baseline="30000" lang="en-US"/>
              <a:t>37</a:t>
            </a:r>
            <a:r>
              <a:rPr lang="en-US"/>
              <a:t> x 19</a:t>
            </a:r>
            <a:r>
              <a:rPr baseline="30000" lang="en-US"/>
              <a:t>45</a:t>
            </a:r>
            <a:r>
              <a:rPr lang="en-US"/>
              <a:t>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(a) 3(b) 7 (c) 1 (d) 9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0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12" name="Google Shape;312;p10"/>
          <p:cNvSpPr txBox="1"/>
          <p:nvPr>
            <p:ph idx="1" type="body"/>
          </p:nvPr>
        </p:nvSpPr>
        <p:spPr>
          <a:xfrm>
            <a:off x="78377" y="1837509"/>
            <a:ext cx="12043954" cy="5020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13. What will the digit in the unit position of (39)</a:t>
            </a:r>
            <a:r>
              <a:rPr baseline="30000" lang="en-US"/>
              <a:t>39!</a:t>
            </a:r>
            <a:r>
              <a:rPr lang="en-US"/>
              <a:t>X (127)</a:t>
            </a:r>
            <a:r>
              <a:rPr baseline="30000" lang="en-US"/>
              <a:t>127!</a:t>
            </a:r>
            <a:r>
              <a:rPr lang="en-US"/>
              <a:t> 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(a) 1(b) 3(c) 7(d) 9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14.Find the units digit of (1!)</a:t>
            </a:r>
            <a:r>
              <a:rPr baseline="30000" lang="en-US"/>
              <a:t>99</a:t>
            </a:r>
            <a:r>
              <a:rPr lang="en-US"/>
              <a:t> + (2!)</a:t>
            </a:r>
            <a:r>
              <a:rPr baseline="30000" lang="en-US"/>
              <a:t>98</a:t>
            </a:r>
            <a:r>
              <a:rPr lang="en-US"/>
              <a:t> + (3!)</a:t>
            </a:r>
            <a:r>
              <a:rPr baseline="30000" lang="en-US"/>
              <a:t>97</a:t>
            </a:r>
            <a:r>
              <a:rPr lang="en-US"/>
              <a:t> + (4!)</a:t>
            </a:r>
            <a:r>
              <a:rPr baseline="30000" lang="en-US"/>
              <a:t>96</a:t>
            </a:r>
            <a:r>
              <a:rPr lang="en-US"/>
              <a:t> + ……+ (99!)</a:t>
            </a:r>
            <a:r>
              <a:rPr baseline="30000" lang="en-US"/>
              <a:t>1</a:t>
            </a:r>
            <a:r>
              <a:rPr lang="en-US"/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(a) 0(b) 1(c) 5(d) 7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75c7b6df92_0_0"/>
          <p:cNvSpPr txBox="1"/>
          <p:nvPr>
            <p:ph type="title"/>
          </p:nvPr>
        </p:nvSpPr>
        <p:spPr>
          <a:xfrm>
            <a:off x="0" y="0"/>
            <a:ext cx="12192000" cy="1737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375c7b6df92_0_0"/>
          <p:cNvSpPr txBox="1"/>
          <p:nvPr>
            <p:ph idx="1" type="body"/>
          </p:nvPr>
        </p:nvSpPr>
        <p:spPr>
          <a:xfrm>
            <a:off x="0" y="1833154"/>
            <a:ext cx="12122400" cy="50247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1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25" name="Google Shape;325;p11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15. What is the remainder when the product 1998 × 1999 × 2000 is divided by 7?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(a) 0(b) 2(c) 4(d) 6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16. Find the remainder of  (9)</a:t>
            </a:r>
            <a:r>
              <a:rPr baseline="30000" lang="en-US"/>
              <a:t>99</a:t>
            </a:r>
            <a:r>
              <a:rPr lang="en-US"/>
              <a:t>/8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(a) 1(b) 7(c) 8(d) 9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2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31" name="Google Shape;331;p12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17. What is the remainder when 2</a:t>
            </a:r>
            <a:r>
              <a:rPr baseline="30000" lang="en-US"/>
              <a:t>2006</a:t>
            </a:r>
            <a:r>
              <a:rPr lang="en-US"/>
              <a:t> is divided by 7?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(a) 2(b) 4 (c) 6 (d) 8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18. What is the remainder when 3</a:t>
            </a:r>
            <a:r>
              <a:rPr baseline="30000" lang="en-US"/>
              <a:t>444</a:t>
            </a:r>
            <a:r>
              <a:rPr lang="en-US"/>
              <a:t> + 4</a:t>
            </a:r>
            <a:r>
              <a:rPr baseline="30000" lang="en-US"/>
              <a:t>333</a:t>
            </a:r>
            <a:r>
              <a:rPr lang="en-US"/>
              <a:t> is divided by 5?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(a) 1(b) 2(c) 3(d) 0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3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37" name="Google Shape;337;p13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19.If 146! is divisible by 5</a:t>
            </a:r>
            <a:r>
              <a:rPr baseline="30000" lang="en-US"/>
              <a:t>n</a:t>
            </a:r>
            <a:r>
              <a:rPr lang="en-US"/>
              <a:t>, then find the maximum value of 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(a) 34(b) 35(c) 36(d) 37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20. What is the number of zeros at the end of 126!?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(a) 12(b) 13(c) 26(d) 31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4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43" name="Google Shape;343;p14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/>
              <a:t>Directions (21-23): In these questions,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i) A @ B means A is not smaller than B.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ii) A # B means A  is not greater than B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iii) A $ B means A is neither greater than nor smaller than B.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iv) A + B means A is neither smaller than nor equal to B.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v) A % B means A  is neither greater than nor equal to B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br>
              <a:rPr lang="en-US"/>
            </a:br>
            <a:r>
              <a:rPr lang="en-US"/>
              <a:t>21. Statements: Y $ W , W @ O , O # H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Conclusions I. Y + O II. H % W III. H + 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A. None follows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B. Only I follow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C. Only II follow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D. Only III follow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E. Only II &amp; III follows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5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49" name="Google Shape;349;p15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fontScale="70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/>
              <a:t>22.Statements: B + M , M @ Z , Z $ C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Conclusions: I. C + M 	II. B + Z 		III. C + B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A. Only II follows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B. Only I and III follows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C. Only I follow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D. Only III follow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E. None of these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23.Statements: N @ S , S % M , M + H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Conclusions: I. M # N.  	II. N + H. 	III. M + 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A. Only II follows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B. Only I and II follows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C. Only III follows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D. Either I or III follows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E. None of these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6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55" name="Google Shape;355;p16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fontScale="5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/>
              <a:t>24.	Given signs signify something and on that basis, assume the given statement to be true. Answer the question based on  the information provided.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	"%" denotes "greater than"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	"&gt;" denotes "equal to"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	"=" denotes "not less than"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	"@" denotes "not equal to"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	"#" denotes "less than"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	"*" denotes "not greater than"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	Statements: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	P &gt; S, S @ T, P # 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	Conclusions: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	 I. S % 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	II. P @ 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	(a) Only conclusion I is true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	(b) Only conclusion II is true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	(c) Neither conclusion I nor II is true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	(d) Both conclusion I and II are true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7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61" name="Google Shape;361;p17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fontScale="5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800"/>
              <a:t>25.	“A+B” means “A is greater than B”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 sz="2800"/>
              <a:t>	“A–B” means “A is less than B”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 sz="2800"/>
              <a:t>	“A=B” means “A is greater than equal to B”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 sz="2800"/>
              <a:t>	“A*B” means “A is equal to B”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 sz="2800"/>
              <a:t>	“A/B” means “A is not equal to B”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 sz="2800"/>
              <a:t>	Statements: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 sz="2800"/>
              <a:t>	D=E, E+F, F/G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 sz="2800"/>
              <a:t>	Conclusions: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 sz="2800"/>
              <a:t>	 I. D+F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 sz="2800"/>
              <a:t>	II. F*G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 sz="2800"/>
              <a:t>	(a)	Only conclusion I is true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 sz="2800"/>
              <a:t>	(b)	Only conclusion II is true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 sz="2800"/>
              <a:t>	(c)	Neither conclusion I nor II is true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 sz="2800"/>
              <a:t>	(d)	Both conclusions I and II are true</a:t>
            </a:r>
            <a:endParaRPr sz="2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8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67" name="Google Shape;367;p18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                                                                                      </a:t>
            </a:r>
            <a:r>
              <a:rPr lang="en-US" sz="3600"/>
              <a:t>THANK YOU</a:t>
            </a:r>
            <a:endParaRPr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Q spider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2022-04-07T04:00:07Z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