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pkbogCes0JWfxx2eOY+rOFg5Y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88b1483e5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88b1483e5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188b1483e5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c2ad91fa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c2ad91fa7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1c2ad91fa7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17"/>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7"/>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7"/>
          <p:cNvSpPr/>
          <p:nvPr>
            <p:ph idx="2" type="pic"/>
          </p:nvPr>
        </p:nvSpPr>
        <p:spPr>
          <a:xfrm>
            <a:off x="0" y="0"/>
            <a:ext cx="6311900" cy="6858000"/>
          </a:xfrm>
          <a:prstGeom prst="rect">
            <a:avLst/>
          </a:prstGeom>
          <a:noFill/>
          <a:ln>
            <a:noFill/>
          </a:ln>
        </p:spPr>
      </p:sp>
      <p:sp>
        <p:nvSpPr>
          <p:cNvPr id="21" name="Google Shape;21;p17"/>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7"/>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7"/>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1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19"/>
          <p:cNvSpPr/>
          <p:nvPr>
            <p:ph idx="2" type="pic"/>
          </p:nvPr>
        </p:nvSpPr>
        <p:spPr>
          <a:xfrm>
            <a:off x="0" y="0"/>
            <a:ext cx="12192000" cy="6858000"/>
          </a:xfrm>
          <a:prstGeom prst="rect">
            <a:avLst/>
          </a:prstGeom>
          <a:noFill/>
          <a:ln>
            <a:noFill/>
          </a:ln>
        </p:spPr>
      </p:sp>
      <p:sp>
        <p:nvSpPr>
          <p:cNvPr id="32" name="Google Shape;32;p1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1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19"/>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19"/>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20"/>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2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2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20"/>
          <p:cNvSpPr/>
          <p:nvPr>
            <p:ph idx="2" type="pic"/>
          </p:nvPr>
        </p:nvSpPr>
        <p:spPr>
          <a:xfrm>
            <a:off x="0" y="0"/>
            <a:ext cx="6311900" cy="6858000"/>
          </a:xfrm>
          <a:prstGeom prst="rect">
            <a:avLst/>
          </a:prstGeom>
          <a:noFill/>
          <a:ln>
            <a:noFill/>
          </a:ln>
        </p:spPr>
      </p:sp>
      <p:sp>
        <p:nvSpPr>
          <p:cNvPr id="43" name="Google Shape;43;p20"/>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20"/>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0"/>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20"/>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21"/>
          <p:cNvSpPr/>
          <p:nvPr>
            <p:ph idx="2" type="pic"/>
          </p:nvPr>
        </p:nvSpPr>
        <p:spPr>
          <a:xfrm>
            <a:off x="0" y="0"/>
            <a:ext cx="12192000" cy="6858000"/>
          </a:xfrm>
          <a:prstGeom prst="rect">
            <a:avLst/>
          </a:prstGeom>
          <a:noFill/>
          <a:ln>
            <a:noFill/>
          </a:ln>
        </p:spPr>
      </p:sp>
      <p:sp>
        <p:nvSpPr>
          <p:cNvPr id="52" name="Google Shape;52;p21"/>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21"/>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1"/>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21"/>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2"/>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2"/>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3"/>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23"/>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23"/>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23"/>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2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25"/>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2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6"/>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6"/>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6"/>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6"/>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26"/>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6"/>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26"/>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26"/>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26"/>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2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28"/>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8"/>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8"/>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28"/>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8"/>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2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28"/>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8"/>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8"/>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29"/>
          <p:cNvSpPr/>
          <p:nvPr>
            <p:ph idx="2" type="pic"/>
          </p:nvPr>
        </p:nvSpPr>
        <p:spPr>
          <a:xfrm>
            <a:off x="0" y="0"/>
            <a:ext cx="4654296" cy="5864225"/>
          </a:xfrm>
          <a:prstGeom prst="rect">
            <a:avLst/>
          </a:prstGeom>
          <a:noFill/>
          <a:ln>
            <a:noFill/>
          </a:ln>
        </p:spPr>
      </p:sp>
      <p:sp>
        <p:nvSpPr>
          <p:cNvPr id="113" name="Google Shape;113;p29"/>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9"/>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29"/>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3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30"/>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0"/>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30"/>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31"/>
          <p:cNvSpPr/>
          <p:nvPr>
            <p:ph idx="2" type="pic"/>
          </p:nvPr>
        </p:nvSpPr>
        <p:spPr>
          <a:xfrm>
            <a:off x="0" y="0"/>
            <a:ext cx="12192000" cy="3541486"/>
          </a:xfrm>
          <a:prstGeom prst="rect">
            <a:avLst/>
          </a:prstGeom>
          <a:noFill/>
          <a:ln>
            <a:noFill/>
          </a:ln>
        </p:spPr>
      </p:sp>
      <p:sp>
        <p:nvSpPr>
          <p:cNvPr id="129" name="Google Shape;129;p31"/>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1"/>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3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31"/>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3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2"/>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2"/>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2"/>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2"/>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32"/>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3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33"/>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33"/>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3"/>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33"/>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34"/>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4"/>
          <p:cNvSpPr/>
          <p:nvPr>
            <p:ph idx="2" type="pic"/>
          </p:nvPr>
        </p:nvSpPr>
        <p:spPr>
          <a:xfrm>
            <a:off x="15" y="0"/>
            <a:ext cx="12191985" cy="4578350"/>
          </a:xfrm>
          <a:prstGeom prst="rect">
            <a:avLst/>
          </a:prstGeom>
          <a:solidFill>
            <a:schemeClr val="lt1"/>
          </a:solidFill>
          <a:ln>
            <a:noFill/>
          </a:ln>
        </p:spPr>
      </p:sp>
      <p:sp>
        <p:nvSpPr>
          <p:cNvPr id="158" name="Google Shape;158;p34"/>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4"/>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4"/>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34"/>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35"/>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36"/>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6"/>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3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3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3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36"/>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4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4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4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4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4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4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4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4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46"/>
          <p:cNvSpPr/>
          <p:nvPr>
            <p:ph idx="2" type="pic"/>
          </p:nvPr>
        </p:nvSpPr>
        <p:spPr>
          <a:xfrm>
            <a:off x="5183188" y="987425"/>
            <a:ext cx="6172200" cy="4873625"/>
          </a:xfrm>
          <a:prstGeom prst="rect">
            <a:avLst/>
          </a:prstGeom>
          <a:noFill/>
          <a:ln>
            <a:noFill/>
          </a:ln>
        </p:spPr>
      </p:sp>
      <p:sp>
        <p:nvSpPr>
          <p:cNvPr id="236" name="Google Shape;236;p4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4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3.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16"/>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Seating Arrangement</a:t>
            </a:r>
            <a:endParaRPr/>
          </a:p>
        </p:txBody>
      </p:sp>
      <p:sp>
        <p:nvSpPr>
          <p:cNvPr id="258" name="Google Shape;258;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SzPts val="1400"/>
              <a:buNone/>
            </a:pPr>
            <a:r>
              <a:rPr lang="en-US" sz="1400"/>
              <a:t>Directions (1-5): Study the following Information carefully and answer the questions.</a:t>
            </a:r>
            <a:endParaRPr/>
          </a:p>
          <a:p>
            <a:pPr indent="0" lvl="0" marL="0" rtl="0" algn="l">
              <a:lnSpc>
                <a:spcPct val="100000"/>
              </a:lnSpc>
              <a:spcBef>
                <a:spcPts val="1400"/>
              </a:spcBef>
              <a:spcAft>
                <a:spcPts val="0"/>
              </a:spcAft>
              <a:buSzPts val="1400"/>
              <a:buNone/>
            </a:pPr>
            <a:r>
              <a:rPr lang="en-US" sz="1400"/>
              <a:t>A. B,  C, D, E, F. G and H are sitting  around a circle, facing the centre. A sits fourth to the right of H and second to the left of F. C is not the neighbor of F and B. D sits third to the right of C. H never sits next to G. </a:t>
            </a:r>
            <a:endParaRPr/>
          </a:p>
          <a:p>
            <a:pPr indent="0" lvl="0" marL="0" rtl="0" algn="l">
              <a:spcBef>
                <a:spcPts val="1400"/>
              </a:spcBef>
              <a:spcAft>
                <a:spcPts val="0"/>
              </a:spcAft>
              <a:buClr>
                <a:schemeClr val="dk1"/>
              </a:buClr>
              <a:buSzPts val="1400"/>
              <a:buFont typeface="Arial"/>
              <a:buNone/>
            </a:pPr>
            <a:r>
              <a:rPr lang="en-US" sz="1400"/>
              <a:t> </a:t>
            </a:r>
            <a:r>
              <a:rPr lang="en-US" sz="1400"/>
              <a:t>1.Who amongst the following sits between B and D ? </a:t>
            </a:r>
            <a:endParaRPr/>
          </a:p>
          <a:p>
            <a:pPr indent="0" lvl="0" marL="0" rtl="0" algn="l">
              <a:spcBef>
                <a:spcPts val="1400"/>
              </a:spcBef>
              <a:spcAft>
                <a:spcPts val="0"/>
              </a:spcAft>
              <a:buClr>
                <a:schemeClr val="dk1"/>
              </a:buClr>
              <a:buSzPts val="1400"/>
              <a:buFont typeface="Arial"/>
              <a:buNone/>
            </a:pPr>
            <a:r>
              <a:rPr lang="en-US" sz="1400"/>
              <a:t>(1) G (2) F   (3) H (4) A    (5) C </a:t>
            </a:r>
            <a:endParaRPr/>
          </a:p>
          <a:p>
            <a:pPr indent="0" lvl="0" marL="0" rtl="0" algn="l">
              <a:spcBef>
                <a:spcPts val="1400"/>
              </a:spcBef>
              <a:spcAft>
                <a:spcPts val="0"/>
              </a:spcAft>
              <a:buClr>
                <a:schemeClr val="dk1"/>
              </a:buClr>
              <a:buSzPts val="1400"/>
              <a:buFont typeface="Arial"/>
              <a:buNone/>
            </a:pPr>
            <a:r>
              <a:rPr lang="en-US" sz="1400"/>
              <a:t>2.Which of the following pairs sit between H and G ? </a:t>
            </a:r>
            <a:endParaRPr/>
          </a:p>
          <a:p>
            <a:pPr indent="0" lvl="0" marL="0" rtl="0" algn="l">
              <a:spcBef>
                <a:spcPts val="1400"/>
              </a:spcBef>
              <a:spcAft>
                <a:spcPts val="0"/>
              </a:spcAft>
              <a:buClr>
                <a:schemeClr val="dk1"/>
              </a:buClr>
              <a:buSzPts val="1400"/>
              <a:buFont typeface="Arial"/>
              <a:buNone/>
            </a:pPr>
            <a:r>
              <a:rPr lang="en-US" sz="1400"/>
              <a:t>(1) BH (2) EF    (3) CE (4) DB  (5) None of these </a:t>
            </a:r>
            <a:endParaRPr sz="1400"/>
          </a:p>
          <a:p>
            <a:pPr indent="0" lvl="0" marL="0" rtl="0" algn="l">
              <a:spcBef>
                <a:spcPts val="1400"/>
              </a:spcBef>
              <a:spcAft>
                <a:spcPts val="0"/>
              </a:spcAft>
              <a:buClr>
                <a:schemeClr val="dk1"/>
              </a:buClr>
              <a:buSzPts val="1400"/>
              <a:buFont typeface="Arial"/>
              <a:buNone/>
            </a:pPr>
            <a:r>
              <a:rPr lang="en-US" sz="1400"/>
              <a:t>3.Four of the following five are alike in a certain way based on their positions </a:t>
            </a:r>
            <a:endParaRPr/>
          </a:p>
          <a:p>
            <a:pPr indent="0" lvl="0" marL="0" rtl="0" algn="l">
              <a:spcBef>
                <a:spcPts val="1400"/>
              </a:spcBef>
              <a:spcAft>
                <a:spcPts val="0"/>
              </a:spcAft>
              <a:buClr>
                <a:schemeClr val="dk1"/>
              </a:buClr>
              <a:buSzPts val="1400"/>
              <a:buFont typeface="Arial"/>
              <a:buNone/>
            </a:pPr>
            <a:r>
              <a:rPr lang="en-US" sz="1400"/>
              <a:t>in the seating arrangement and so form the group. Which is the one that does not  belong to that group? </a:t>
            </a:r>
            <a:endParaRPr/>
          </a:p>
          <a:p>
            <a:pPr indent="0" lvl="0" marL="0" rtl="0" algn="l">
              <a:spcBef>
                <a:spcPts val="1400"/>
              </a:spcBef>
              <a:spcAft>
                <a:spcPts val="0"/>
              </a:spcAft>
              <a:buClr>
                <a:schemeClr val="dk1"/>
              </a:buClr>
              <a:buSzPts val="1400"/>
              <a:buFont typeface="Arial"/>
              <a:buNone/>
            </a:pPr>
            <a:r>
              <a:rPr lang="en-US" sz="1400"/>
              <a:t>( 1) AE (2) HF   (3) BD (4) GE     (5) CH </a:t>
            </a:r>
            <a:endParaRPr/>
          </a:p>
          <a:p>
            <a:pPr indent="0" lvl="0" marL="0" rtl="0" algn="l">
              <a:spcBef>
                <a:spcPts val="1400"/>
              </a:spcBef>
              <a:spcAft>
                <a:spcPts val="0"/>
              </a:spcAft>
              <a:buClr>
                <a:schemeClr val="dk1"/>
              </a:buClr>
              <a:buSzPts val="1400"/>
              <a:buFont typeface="Arial"/>
              <a:buNone/>
            </a:pPr>
            <a:r>
              <a:rPr lang="en-US" sz="1400"/>
              <a:t>4.Who is to immediate right of A? </a:t>
            </a:r>
            <a:endParaRPr/>
          </a:p>
          <a:p>
            <a:pPr indent="0" lvl="0" marL="0" rtl="0" algn="l">
              <a:spcBef>
                <a:spcPts val="1400"/>
              </a:spcBef>
              <a:spcAft>
                <a:spcPts val="0"/>
              </a:spcAft>
              <a:buClr>
                <a:schemeClr val="dk1"/>
              </a:buClr>
              <a:buSzPts val="1400"/>
              <a:buFont typeface="Arial"/>
              <a:buNone/>
            </a:pPr>
            <a:r>
              <a:rPr lang="en-US" sz="1400"/>
              <a:t>( 1) C (2) D   (3) G  (4) Data inadequate  (5) None of these </a:t>
            </a:r>
            <a:endParaRPr/>
          </a:p>
          <a:p>
            <a:pPr indent="0" lvl="0" marL="0" rtl="0" algn="l">
              <a:spcBef>
                <a:spcPts val="1400"/>
              </a:spcBef>
              <a:spcAft>
                <a:spcPts val="0"/>
              </a:spcAft>
              <a:buClr>
                <a:schemeClr val="dk1"/>
              </a:buClr>
              <a:buSzPts val="1400"/>
              <a:buFont typeface="Arial"/>
              <a:buNone/>
            </a:pPr>
            <a:r>
              <a:rPr lang="en-US" sz="1400"/>
              <a:t>5. Who sits second to the right of  B? (1) A (2) C (3) D (4) E  (5) None of these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188b1483e51_0_0"/>
          <p:cNvSpPr txBox="1"/>
          <p:nvPr>
            <p:ph type="title"/>
          </p:nvPr>
        </p:nvSpPr>
        <p:spPr>
          <a:xfrm>
            <a:off x="0" y="0"/>
            <a:ext cx="12192000" cy="1737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71" name="Google Shape;271;g188b1483e51_0_0"/>
          <p:cNvSpPr txBox="1"/>
          <p:nvPr>
            <p:ph idx="1" type="body"/>
          </p:nvPr>
        </p:nvSpPr>
        <p:spPr>
          <a:xfrm>
            <a:off x="-159950" y="1737304"/>
            <a:ext cx="12122400" cy="5024700"/>
          </a:xfrm>
          <a:prstGeom prst="rect">
            <a:avLst/>
          </a:prstGeom>
        </p:spPr>
        <p:txBody>
          <a:bodyPr anchorCtr="0" anchor="t" bIns="45700" lIns="0" spcFirstLastPara="1" rIns="0" wrap="square" tIns="45700">
            <a:normAutofit/>
          </a:bodyPr>
          <a:lstStyle/>
          <a:p>
            <a:pPr indent="0" lvl="0" marL="0" rtl="0" algn="l">
              <a:spcBef>
                <a:spcPts val="1400"/>
              </a:spcBef>
              <a:spcAft>
                <a:spcPts val="0"/>
              </a:spcAft>
              <a:buClr>
                <a:schemeClr val="dk1"/>
              </a:buClr>
              <a:buSzPts val="1400"/>
              <a:buFont typeface="Arial"/>
              <a:buNone/>
            </a:pPr>
            <a:r>
              <a:rPr lang="en-US" sz="1400"/>
              <a:t>1.Who amongst the following sits between B and D ? </a:t>
            </a:r>
            <a:endParaRPr/>
          </a:p>
          <a:p>
            <a:pPr indent="0" lvl="0" marL="0" rtl="0" algn="l">
              <a:spcBef>
                <a:spcPts val="1400"/>
              </a:spcBef>
              <a:spcAft>
                <a:spcPts val="0"/>
              </a:spcAft>
              <a:buClr>
                <a:schemeClr val="dk1"/>
              </a:buClr>
              <a:buSzPts val="1400"/>
              <a:buFont typeface="Arial"/>
              <a:buNone/>
            </a:pPr>
            <a:r>
              <a:rPr lang="en-US" sz="1400"/>
              <a:t>(1) G (2) F   (3) H (4) A    (5) C </a:t>
            </a:r>
            <a:endParaRPr/>
          </a:p>
          <a:p>
            <a:pPr indent="0" lvl="0" marL="0" rtl="0" algn="l">
              <a:spcBef>
                <a:spcPts val="1400"/>
              </a:spcBef>
              <a:spcAft>
                <a:spcPts val="0"/>
              </a:spcAft>
              <a:buClr>
                <a:schemeClr val="dk1"/>
              </a:buClr>
              <a:buSzPts val="1400"/>
              <a:buFont typeface="Arial"/>
              <a:buNone/>
            </a:pPr>
            <a:r>
              <a:rPr lang="en-US" sz="1400"/>
              <a:t>2.Which of the following pairs sit between H and G ? </a:t>
            </a:r>
            <a:endParaRPr/>
          </a:p>
          <a:p>
            <a:pPr indent="0" lvl="0" marL="0" rtl="0" algn="l">
              <a:spcBef>
                <a:spcPts val="1400"/>
              </a:spcBef>
              <a:spcAft>
                <a:spcPts val="0"/>
              </a:spcAft>
              <a:buClr>
                <a:schemeClr val="dk1"/>
              </a:buClr>
              <a:buSzPts val="1400"/>
              <a:buFont typeface="Arial"/>
              <a:buNone/>
            </a:pPr>
            <a:r>
              <a:rPr lang="en-US" sz="1400"/>
              <a:t>(1) BH (2) EF    (3) CE (4) DB  (5) None of these </a:t>
            </a:r>
            <a:endParaRPr/>
          </a:p>
          <a:p>
            <a:pPr indent="0" lvl="0" marL="0" rtl="0" algn="l">
              <a:spcBef>
                <a:spcPts val="1400"/>
              </a:spcBef>
              <a:spcAft>
                <a:spcPts val="0"/>
              </a:spcAft>
              <a:buClr>
                <a:schemeClr val="dk1"/>
              </a:buClr>
              <a:buSzPts val="1400"/>
              <a:buFont typeface="Arial"/>
              <a:buNone/>
            </a:pPr>
            <a:r>
              <a:rPr lang="en-US" sz="1400"/>
              <a:t>3.Four of the following five are alike in a certain way based on their positions </a:t>
            </a:r>
            <a:endParaRPr/>
          </a:p>
          <a:p>
            <a:pPr indent="0" lvl="0" marL="0" rtl="0" algn="l">
              <a:spcBef>
                <a:spcPts val="1400"/>
              </a:spcBef>
              <a:spcAft>
                <a:spcPts val="0"/>
              </a:spcAft>
              <a:buClr>
                <a:schemeClr val="dk1"/>
              </a:buClr>
              <a:buSzPts val="1400"/>
              <a:buFont typeface="Arial"/>
              <a:buNone/>
            </a:pPr>
            <a:r>
              <a:rPr lang="en-US" sz="1400"/>
              <a:t>in the seating arrangement and so form the group. Which is the one that does not  belong to that group? </a:t>
            </a:r>
            <a:endParaRPr/>
          </a:p>
          <a:p>
            <a:pPr indent="0" lvl="0" marL="0" rtl="0" algn="l">
              <a:spcBef>
                <a:spcPts val="1400"/>
              </a:spcBef>
              <a:spcAft>
                <a:spcPts val="0"/>
              </a:spcAft>
              <a:buClr>
                <a:schemeClr val="dk1"/>
              </a:buClr>
              <a:buSzPts val="1400"/>
              <a:buFont typeface="Arial"/>
              <a:buNone/>
            </a:pPr>
            <a:r>
              <a:rPr lang="en-US" sz="1400"/>
              <a:t>( 1) AE (2) HF   (3) BD (4) GE     (5) CH </a:t>
            </a:r>
            <a:endParaRPr/>
          </a:p>
          <a:p>
            <a:pPr indent="0" lvl="0" marL="0" rtl="0" algn="l">
              <a:spcBef>
                <a:spcPts val="1400"/>
              </a:spcBef>
              <a:spcAft>
                <a:spcPts val="0"/>
              </a:spcAft>
              <a:buClr>
                <a:schemeClr val="dk1"/>
              </a:buClr>
              <a:buSzPts val="1400"/>
              <a:buFont typeface="Arial"/>
              <a:buNone/>
            </a:pPr>
            <a:r>
              <a:rPr lang="en-US" sz="1400"/>
              <a:t>4.Who is to immediate right of A? </a:t>
            </a:r>
            <a:endParaRPr/>
          </a:p>
          <a:p>
            <a:pPr indent="0" lvl="0" marL="0" rtl="0" algn="l">
              <a:spcBef>
                <a:spcPts val="1400"/>
              </a:spcBef>
              <a:spcAft>
                <a:spcPts val="0"/>
              </a:spcAft>
              <a:buClr>
                <a:schemeClr val="dk1"/>
              </a:buClr>
              <a:buSzPts val="1400"/>
              <a:buFont typeface="Arial"/>
              <a:buNone/>
            </a:pPr>
            <a:r>
              <a:rPr lang="en-US" sz="1400"/>
              <a:t>( 1) C (2) D   (3) G  (4) Data inadequate  (5) None of these </a:t>
            </a:r>
            <a:endParaRPr/>
          </a:p>
          <a:p>
            <a:pPr indent="0" lvl="0" marL="0" rtl="0" algn="l">
              <a:spcBef>
                <a:spcPts val="1400"/>
              </a:spcBef>
              <a:spcAft>
                <a:spcPts val="0"/>
              </a:spcAft>
              <a:buClr>
                <a:schemeClr val="dk1"/>
              </a:buClr>
              <a:buSzPts val="1400"/>
              <a:buFont typeface="Arial"/>
              <a:buNone/>
            </a:pPr>
            <a:r>
              <a:rPr lang="en-US" sz="1400"/>
              <a:t>5. Who sits second to the right of  B? (1) A (2) C (3) D (4) E  (5) None of these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7" name="Google Shape;277;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SzPts val="1400"/>
              <a:buNone/>
            </a:pPr>
            <a:r>
              <a:rPr lang="en-US" sz="1400"/>
              <a:t>Seven people -A. B. C, D. E. F and G are sitting in a circle.Five of them are facing the centre while two of them are facing opposite to the centre.C sits third to the left of D and both are facing the centre. E is neither an iminediate neighbour of D nor  of C. The one sitting exactly between D and F is facing opposite to the centre. G sits third to the right of A and G is facing the centre. One of B’s neighbour is facing opposite to the centre. </a:t>
            </a:r>
            <a:endParaRPr/>
          </a:p>
          <a:p>
            <a:pPr indent="0" lvl="0" marL="0" rtl="0" algn="l">
              <a:lnSpc>
                <a:spcPct val="100000"/>
              </a:lnSpc>
              <a:spcBef>
                <a:spcPts val="1400"/>
              </a:spcBef>
              <a:spcAft>
                <a:spcPts val="0"/>
              </a:spcAft>
              <a:buSzPts val="1400"/>
              <a:buNone/>
            </a:pPr>
            <a:r>
              <a:rPr lang="en-US" sz="1400"/>
              <a:t>6. Which ofthe following pairs represents persons, facing opposite to the centre ? </a:t>
            </a:r>
            <a:endParaRPr/>
          </a:p>
          <a:p>
            <a:pPr indent="0" lvl="0" marL="0" rtl="0" algn="l">
              <a:lnSpc>
                <a:spcPct val="100000"/>
              </a:lnSpc>
              <a:spcBef>
                <a:spcPts val="1400"/>
              </a:spcBef>
              <a:spcAft>
                <a:spcPts val="0"/>
              </a:spcAft>
              <a:buSzPts val="1400"/>
              <a:buNone/>
            </a:pPr>
            <a:r>
              <a:rPr lang="en-US" sz="1400"/>
              <a:t>(l) A and F  (2) E and F (3) A and E  (4) Cannot be determined (5) None of these</a:t>
            </a:r>
            <a:endParaRPr/>
          </a:p>
          <a:p>
            <a:pPr indent="0" lvl="0" marL="0" rtl="0" algn="l">
              <a:lnSpc>
                <a:spcPct val="100000"/>
              </a:lnSpc>
              <a:spcBef>
                <a:spcPts val="1400"/>
              </a:spcBef>
              <a:spcAft>
                <a:spcPts val="0"/>
              </a:spcAft>
              <a:buSzPts val="1400"/>
              <a:buNone/>
            </a:pPr>
            <a:r>
              <a:rPr lang="en-US" sz="1400"/>
              <a:t>7.Who is sitting second to the left  of A ? </a:t>
            </a:r>
            <a:endParaRPr/>
          </a:p>
          <a:p>
            <a:pPr indent="0" lvl="0" marL="0" rtl="0" algn="l">
              <a:lnSpc>
                <a:spcPct val="100000"/>
              </a:lnSpc>
              <a:spcBef>
                <a:spcPts val="1400"/>
              </a:spcBef>
              <a:spcAft>
                <a:spcPts val="0"/>
              </a:spcAft>
              <a:buSzPts val="1400"/>
              <a:buNone/>
            </a:pPr>
            <a:r>
              <a:rPr lang="en-US" sz="1400"/>
              <a:t>(l) C (2) G   (3) E (4) B  (5) None of these </a:t>
            </a:r>
            <a:endParaRPr/>
          </a:p>
          <a:p>
            <a:pPr indent="0" lvl="0" marL="0" rtl="0" algn="l">
              <a:lnSpc>
                <a:spcPct val="100000"/>
              </a:lnSpc>
              <a:spcBef>
                <a:spcPts val="1400"/>
              </a:spcBef>
              <a:spcAft>
                <a:spcPts val="0"/>
              </a:spcAft>
              <a:buSzPts val="1400"/>
              <a:buNone/>
            </a:pPr>
            <a:r>
              <a:rPr lang="en-US" sz="1400"/>
              <a:t>8.Who is sitting to the immediate left of E ? </a:t>
            </a:r>
            <a:endParaRPr/>
          </a:p>
          <a:p>
            <a:pPr indent="0" lvl="0" marL="0" rtl="0" algn="l">
              <a:lnSpc>
                <a:spcPct val="100000"/>
              </a:lnSpc>
              <a:spcBef>
                <a:spcPts val="1400"/>
              </a:spcBef>
              <a:spcAft>
                <a:spcPts val="0"/>
              </a:spcAft>
              <a:buSzPts val="1400"/>
              <a:buNone/>
            </a:pPr>
            <a:r>
              <a:rPr lang="en-US" sz="1400"/>
              <a:t>1) c (2) G (3) B (4) A (5) None of these </a:t>
            </a:r>
            <a:endParaRPr/>
          </a:p>
          <a:p>
            <a:pPr indent="0" lvl="0" marL="0" rtl="0" algn="l">
              <a:lnSpc>
                <a:spcPct val="100000"/>
              </a:lnSpc>
              <a:spcBef>
                <a:spcPts val="1400"/>
              </a:spcBef>
              <a:spcAft>
                <a:spcPts val="0"/>
              </a:spcAft>
              <a:buSzPts val="1400"/>
              <a:buNone/>
            </a:pPr>
            <a:r>
              <a:rPr lang="en-US" sz="1400"/>
              <a:t>9.What is the position of F with respect to B ? </a:t>
            </a:r>
            <a:endParaRPr/>
          </a:p>
          <a:p>
            <a:pPr indent="0" lvl="0" marL="0" rtl="0" algn="l">
              <a:lnSpc>
                <a:spcPct val="100000"/>
              </a:lnSpc>
              <a:spcBef>
                <a:spcPts val="1400"/>
              </a:spcBef>
              <a:spcAft>
                <a:spcPts val="0"/>
              </a:spcAft>
              <a:buSzPts val="1400"/>
              <a:buNone/>
            </a:pPr>
            <a:r>
              <a:rPr lang="en-US" sz="1400"/>
              <a:t> (1) Fourth to the left  (2) Second to the right  (3) Third to the right  (4) Second to the left  (5) None of these </a:t>
            </a:r>
            <a:endParaRPr/>
          </a:p>
          <a:p>
            <a:pPr indent="0" lvl="0" marL="0" rtl="0" algn="l">
              <a:lnSpc>
                <a:spcPct val="100000"/>
              </a:lnSpc>
              <a:spcBef>
                <a:spcPts val="1400"/>
              </a:spcBef>
              <a:spcAft>
                <a:spcPts val="0"/>
              </a:spcAft>
              <a:buSzPts val="1400"/>
              <a:buNone/>
            </a:pPr>
            <a:r>
              <a:rPr lang="en-US" sz="1400"/>
              <a:t>10 If all the persons are asked to sit in a clockwise direction in an alphabetical order starting from A. </a:t>
            </a:r>
            <a:endParaRPr/>
          </a:p>
          <a:p>
            <a:pPr indent="0" lvl="0" marL="0" rtl="0" algn="l">
              <a:lnSpc>
                <a:spcPct val="100000"/>
              </a:lnSpc>
              <a:spcBef>
                <a:spcPts val="1400"/>
              </a:spcBef>
              <a:spcAft>
                <a:spcPts val="0"/>
              </a:spcAft>
              <a:buSzPts val="1400"/>
              <a:buNone/>
            </a:pPr>
            <a:r>
              <a:rPr lang="en-US" sz="1400"/>
              <a:t>the position of how many will remain unchanged. excluding A ?</a:t>
            </a:r>
            <a:endParaRPr/>
          </a:p>
          <a:p>
            <a:pPr indent="0" lvl="0" marL="0" rtl="0" algn="l">
              <a:lnSpc>
                <a:spcPct val="100000"/>
              </a:lnSpc>
              <a:spcBef>
                <a:spcPts val="1400"/>
              </a:spcBef>
              <a:spcAft>
                <a:spcPts val="0"/>
              </a:spcAft>
              <a:buSzPts val="1400"/>
              <a:buNone/>
            </a:pPr>
            <a:r>
              <a:rPr lang="en-US" sz="1400"/>
              <a:t>1)Three (2) One   3) Two 4)None (5) Four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3" name="Google Shape;283;p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fontScale="77500" lnSpcReduction="10000"/>
          </a:bodyPr>
          <a:lstStyle/>
          <a:p>
            <a:pPr indent="0" lvl="0" marL="0" rtl="0" algn="l">
              <a:lnSpc>
                <a:spcPct val="100000"/>
              </a:lnSpc>
              <a:spcBef>
                <a:spcPts val="0"/>
              </a:spcBef>
              <a:spcAft>
                <a:spcPts val="0"/>
              </a:spcAft>
              <a:buSzPct val="100000"/>
              <a:buNone/>
            </a:pPr>
            <a:r>
              <a:rPr b="1" lang="en-US"/>
              <a:t>11-15)Six people C, D, E, F, G and H are standing in a straight line facing north not necessarily in the same order. D is standing second to the right of F. C is standing fourth to the left of H and H is not standing on the extreme end of the line. E is standing second to the right of D. </a:t>
            </a:r>
            <a:endParaRPr/>
          </a:p>
          <a:p>
            <a:pPr indent="0" lvl="0" marL="0" rtl="0" algn="just">
              <a:lnSpc>
                <a:spcPct val="120000"/>
              </a:lnSpc>
              <a:spcBef>
                <a:spcPts val="700"/>
              </a:spcBef>
              <a:spcAft>
                <a:spcPts val="0"/>
              </a:spcAft>
              <a:buSzPct val="100000"/>
              <a:buNone/>
            </a:pPr>
            <a:r>
              <a:rPr b="1" lang="en-US"/>
              <a:t>11. What is the position of G with respect to E ? .</a:t>
            </a:r>
            <a:endParaRPr b="1"/>
          </a:p>
          <a:p>
            <a:pPr indent="0" lvl="0" marL="0" rtl="0" algn="just">
              <a:lnSpc>
                <a:spcPct val="120000"/>
              </a:lnSpc>
              <a:spcBef>
                <a:spcPts val="1000"/>
              </a:spcBef>
              <a:spcAft>
                <a:spcPts val="0"/>
              </a:spcAft>
              <a:buSzPct val="100000"/>
              <a:buNone/>
            </a:pPr>
            <a:r>
              <a:rPr b="1" lang="en-US"/>
              <a:t> (1) Immediate left ' (2) Second to the left (3) Third to the left (4) Third to the right (5) None of these </a:t>
            </a:r>
            <a:endParaRPr b="1"/>
          </a:p>
          <a:p>
            <a:pPr indent="0" lvl="0" marL="0" rtl="0" algn="just">
              <a:lnSpc>
                <a:spcPct val="120000"/>
              </a:lnSpc>
              <a:spcBef>
                <a:spcPts val="1000"/>
              </a:spcBef>
              <a:spcAft>
                <a:spcPts val="0"/>
              </a:spcAft>
              <a:buSzPct val="100000"/>
              <a:buNone/>
            </a:pPr>
            <a:r>
              <a:rPr b="1" lang="en-US"/>
              <a:t>12.Which of the following pairs represents the people standing at the extreme ends of the line ?</a:t>
            </a:r>
            <a:endParaRPr b="1"/>
          </a:p>
          <a:p>
            <a:pPr indent="0" lvl="0" marL="0" rtl="0" algn="just">
              <a:lnSpc>
                <a:spcPct val="120000"/>
              </a:lnSpc>
              <a:spcBef>
                <a:spcPts val="1000"/>
              </a:spcBef>
              <a:spcAft>
                <a:spcPts val="0"/>
              </a:spcAft>
              <a:buSzPct val="100000"/>
              <a:buNone/>
            </a:pPr>
            <a:r>
              <a:rPr b="1" lang="en-US"/>
              <a:t> (1) FH (2) CE    (3) DE (4) CH  (5) None of these </a:t>
            </a:r>
            <a:endParaRPr b="1"/>
          </a:p>
          <a:p>
            <a:pPr indent="0" lvl="0" marL="0" rtl="0" algn="just">
              <a:lnSpc>
                <a:spcPct val="120000"/>
              </a:lnSpc>
              <a:spcBef>
                <a:spcPts val="1000"/>
              </a:spcBef>
              <a:spcAft>
                <a:spcPts val="0"/>
              </a:spcAft>
              <a:buSzPct val="100000"/>
              <a:buNone/>
            </a:pPr>
            <a:r>
              <a:rPr b="1" lang="en-US"/>
              <a:t>13. Who is standing second to the right of C ? </a:t>
            </a:r>
            <a:endParaRPr b="1"/>
          </a:p>
          <a:p>
            <a:pPr indent="0" lvl="0" marL="0" rtl="0" algn="just">
              <a:lnSpc>
                <a:spcPct val="120000"/>
              </a:lnSpc>
              <a:spcBef>
                <a:spcPts val="1000"/>
              </a:spcBef>
              <a:spcAft>
                <a:spcPts val="0"/>
              </a:spcAft>
              <a:buSzPct val="100000"/>
              <a:buNone/>
            </a:pPr>
            <a:r>
              <a:rPr b="1" lang="en-US"/>
              <a:t>(1) F (2) D (3) G (4) E  (5) None of these </a:t>
            </a:r>
            <a:endParaRPr b="1"/>
          </a:p>
          <a:p>
            <a:pPr indent="0" lvl="0" marL="0" rtl="0" algn="just">
              <a:lnSpc>
                <a:spcPct val="120000"/>
              </a:lnSpc>
              <a:spcBef>
                <a:spcPts val="1000"/>
              </a:spcBef>
              <a:spcAft>
                <a:spcPts val="0"/>
              </a:spcAft>
              <a:buSzPct val="100000"/>
              <a:buNone/>
            </a:pPr>
            <a:r>
              <a:rPr b="1" lang="en-US"/>
              <a:t>14.Four of the following live are alike  in a certain way based on their positions in the above arrangement and so form a group. Which of the following does not belong to the group ?</a:t>
            </a:r>
            <a:endParaRPr b="1"/>
          </a:p>
          <a:p>
            <a:pPr indent="0" lvl="0" marL="0" rtl="0" algn="just">
              <a:lnSpc>
                <a:spcPct val="120000"/>
              </a:lnSpc>
              <a:spcBef>
                <a:spcPts val="1000"/>
              </a:spcBef>
              <a:spcAft>
                <a:spcPts val="0"/>
              </a:spcAft>
              <a:buSzPct val="100000"/>
              <a:buNone/>
            </a:pPr>
            <a:r>
              <a:rPr b="1" lang="en-US"/>
              <a:t>(1) CG (2) GE   (3) GH (4) DE  (5) FD </a:t>
            </a:r>
            <a:endParaRPr b="1"/>
          </a:p>
          <a:p>
            <a:pPr indent="0" lvl="0" marL="0" rtl="0" algn="just">
              <a:lnSpc>
                <a:spcPct val="120000"/>
              </a:lnSpc>
              <a:spcBef>
                <a:spcPts val="1000"/>
              </a:spcBef>
              <a:spcAft>
                <a:spcPts val="0"/>
              </a:spcAft>
              <a:buSzPct val="100000"/>
              <a:buNone/>
            </a:pPr>
            <a:r>
              <a:rPr b="1" lang="en-US"/>
              <a:t>15.If all the people are asked to stand in an alphabetical order from left to right, the positions of how many will remain un changed ? </a:t>
            </a:r>
            <a:endParaRPr b="1"/>
          </a:p>
          <a:p>
            <a:pPr indent="0" lvl="0" marL="0" rtl="0" algn="just">
              <a:lnSpc>
                <a:spcPct val="120000"/>
              </a:lnSpc>
              <a:spcBef>
                <a:spcPts val="1000"/>
              </a:spcBef>
              <a:spcAft>
                <a:spcPts val="0"/>
              </a:spcAft>
              <a:buSzPct val="100000"/>
              <a:buNone/>
            </a:pPr>
            <a:r>
              <a:rPr b="1" lang="en-US"/>
              <a:t>(1) One (2) TWO    (3) Three (4) Nme   (5) None of these </a:t>
            </a:r>
            <a:endParaRPr/>
          </a:p>
          <a:p>
            <a:pPr indent="0" lvl="0" marL="0" rtl="0" algn="l">
              <a:lnSpc>
                <a:spcPct val="100000"/>
              </a:lnSpc>
              <a:spcBef>
                <a:spcPts val="1700"/>
              </a:spcBef>
              <a:spcAft>
                <a:spcPts val="0"/>
              </a:spcAft>
              <a:buSzPct val="100000"/>
              <a:buNone/>
            </a:pPr>
            <a:r>
              <a:t/>
            </a:r>
            <a:endParaRPr b="1"/>
          </a:p>
          <a:p>
            <a:pPr indent="0" lvl="0" marL="0" rtl="0" algn="l">
              <a:lnSpc>
                <a:spcPct val="100000"/>
              </a:lnSpc>
              <a:spcBef>
                <a:spcPts val="1400"/>
              </a:spcBef>
              <a:spcAft>
                <a:spcPts val="0"/>
              </a:spcAft>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1c2ad91fa7c_0_0"/>
          <p:cNvSpPr txBox="1"/>
          <p:nvPr>
            <p:ph type="title"/>
          </p:nvPr>
        </p:nvSpPr>
        <p:spPr>
          <a:xfrm>
            <a:off x="0" y="0"/>
            <a:ext cx="12192000" cy="1737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90" name="Google Shape;290;g1c2ad91fa7c_0_0"/>
          <p:cNvSpPr txBox="1"/>
          <p:nvPr>
            <p:ph idx="1" type="body"/>
          </p:nvPr>
        </p:nvSpPr>
        <p:spPr>
          <a:xfrm>
            <a:off x="0" y="1833154"/>
            <a:ext cx="12122400" cy="50247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Clr>
                <a:schemeClr val="dk1"/>
              </a:buClr>
              <a:buSzPts val="2000"/>
              <a:buFont typeface="Arial"/>
              <a:buNone/>
            </a:pPr>
            <a:r>
              <a:rPr lang="en-US"/>
              <a:t>In a group of 6 students P, Q, R, S,   T and U each one having different height. P is taller than T but not as tall as U. Q and U are not the tallest and also R is the shortest. Who is the tallest among them?</a:t>
            </a:r>
            <a:endParaRPr/>
          </a:p>
          <a:p>
            <a:pPr indent="0" lvl="0" marL="0" rtl="0" algn="l">
              <a:spcBef>
                <a:spcPts val="1200"/>
              </a:spcBef>
              <a:spcAft>
                <a:spcPts val="0"/>
              </a:spcAft>
              <a:buClr>
                <a:schemeClr val="dk1"/>
              </a:buClr>
              <a:buSzPts val="2000"/>
              <a:buFont typeface="Arial"/>
              <a:buNone/>
            </a:pPr>
            <a:r>
              <a:rPr lang="en-US"/>
              <a:t>a) P    b) S    c) Q   d) U</a:t>
            </a:r>
            <a:endParaRPr/>
          </a:p>
          <a:p>
            <a:pPr indent="0" lvl="0" marL="0" rtl="0" algn="l">
              <a:spcBef>
                <a:spcPts val="1400"/>
              </a:spcBef>
              <a:spcAft>
                <a:spcPts val="0"/>
              </a:spcAft>
              <a:buClr>
                <a:schemeClr val="dk1"/>
              </a:buClr>
              <a:buSzPts val="2000"/>
              <a:buFont typeface="Arial"/>
              <a:buNone/>
            </a:pPr>
            <a:r>
              <a:t/>
            </a:r>
            <a:endParaRPr/>
          </a:p>
          <a:p>
            <a:pPr indent="0" lvl="0" marL="0" rtl="0" algn="l">
              <a:spcBef>
                <a:spcPts val="1400"/>
              </a:spcBef>
              <a:spcAft>
                <a:spcPts val="0"/>
              </a:spcAft>
              <a:buClr>
                <a:schemeClr val="dk1"/>
              </a:buClr>
              <a:buSzPts val="2000"/>
              <a:buFont typeface="Arial"/>
              <a:buNone/>
            </a:pPr>
            <a:r>
              <a:t/>
            </a:r>
            <a:endParaRPr/>
          </a:p>
          <a:p>
            <a:pPr indent="0" lvl="0" marL="0" rtl="0" algn="l">
              <a:spcBef>
                <a:spcPts val="1200"/>
              </a:spcBef>
              <a:spcAft>
                <a:spcPts val="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6" name="Google Shape;296;p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fontScale="87500" lnSpcReduction="20000"/>
          </a:bodyPr>
          <a:lstStyle/>
          <a:p>
            <a:pPr indent="0" lvl="0" marL="0" rtl="0" algn="just">
              <a:lnSpc>
                <a:spcPct val="120000"/>
              </a:lnSpc>
              <a:spcBef>
                <a:spcPts val="0"/>
              </a:spcBef>
              <a:spcAft>
                <a:spcPts val="0"/>
              </a:spcAft>
              <a:buSzPct val="100000"/>
              <a:buNone/>
            </a:pPr>
            <a:r>
              <a:rPr b="1" lang="en-US"/>
              <a:t>20-24)</a:t>
            </a:r>
            <a:r>
              <a:rPr b="1" lang="en-US"/>
              <a:t>Eight people M, N, O, P, Q, R, S and T --are sitting around a square table (but not necessarily in the same order) in such a way that four of them sit at the corners while four sit in the middle of each of the four sides. The ones sitting at the corners are facing the Centre and the ones sitting in the middle of the sides are facing outside. (Le. opposite to the Centre) </a:t>
            </a:r>
            <a:endParaRPr b="1"/>
          </a:p>
          <a:p>
            <a:pPr indent="0" lvl="0" marL="0" rtl="0" algn="just">
              <a:lnSpc>
                <a:spcPct val="120000"/>
              </a:lnSpc>
              <a:spcBef>
                <a:spcPts val="1000"/>
              </a:spcBef>
              <a:spcAft>
                <a:spcPts val="0"/>
              </a:spcAft>
              <a:buSzPct val="100000"/>
              <a:buNone/>
            </a:pPr>
            <a:r>
              <a:rPr b="1" lang="en-US"/>
              <a:t>O sits in the middle of one of the sides. Only two people sit between O and R. T sits to the immediate right of R. T and S face the same direction. N sits to the immediate left of S. P is an immediate neighbor of N. M sits third to the right of P</a:t>
            </a:r>
            <a:r>
              <a:rPr b="1" lang="en-US"/>
              <a:t>. </a:t>
            </a:r>
            <a:endParaRPr b="1"/>
          </a:p>
          <a:p>
            <a:pPr indent="0" lvl="0" marL="0" rtl="0" algn="just">
              <a:lnSpc>
                <a:spcPct val="120000"/>
              </a:lnSpc>
              <a:spcBef>
                <a:spcPts val="1000"/>
              </a:spcBef>
              <a:spcAft>
                <a:spcPts val="0"/>
              </a:spcAft>
              <a:buSzPct val="100000"/>
              <a:buNone/>
            </a:pPr>
            <a:r>
              <a:rPr b="1" lang="en-US"/>
              <a:t> 22.How many people sit between T and M when counted from the  right of T? </a:t>
            </a:r>
            <a:endParaRPr b="1"/>
          </a:p>
          <a:p>
            <a:pPr indent="0" lvl="0" marL="0" rtl="0" algn="just">
              <a:lnSpc>
                <a:spcPct val="120000"/>
              </a:lnSpc>
              <a:spcBef>
                <a:spcPts val="1000"/>
              </a:spcBef>
              <a:spcAft>
                <a:spcPts val="0"/>
              </a:spcAft>
              <a:buSzPct val="100000"/>
              <a:buNone/>
            </a:pPr>
            <a:r>
              <a:rPr b="1" lang="en-US"/>
              <a:t>(1) More than three  (2) Two (3) One (4) Three (5) None </a:t>
            </a:r>
            <a:endParaRPr b="1"/>
          </a:p>
          <a:p>
            <a:pPr indent="0" lvl="0" marL="0" rtl="0" algn="just">
              <a:lnSpc>
                <a:spcPct val="120000"/>
              </a:lnSpc>
              <a:spcBef>
                <a:spcPts val="1000"/>
              </a:spcBef>
              <a:spcAft>
                <a:spcPts val="0"/>
              </a:spcAft>
              <a:buSzPct val="100000"/>
              <a:buNone/>
            </a:pPr>
            <a:r>
              <a:rPr b="1" lang="en-US"/>
              <a:t>23.Which of the following statements is true with respect to the given  arrangement? </a:t>
            </a:r>
            <a:endParaRPr b="1"/>
          </a:p>
          <a:p>
            <a:pPr indent="0" lvl="0" marL="0" rtl="0" algn="just">
              <a:lnSpc>
                <a:spcPct val="120000"/>
              </a:lnSpc>
              <a:spcBef>
                <a:spcPts val="1000"/>
              </a:spcBef>
              <a:spcAft>
                <a:spcPts val="0"/>
              </a:spcAft>
              <a:buSzPct val="100000"/>
              <a:buNone/>
            </a:pPr>
            <a:r>
              <a:rPr b="1" lang="en-US"/>
              <a:t>(1) None of the given statements is true  (2) Q is an immediate neighbour of T.  (3) S sits at one of the corers of the table .  (4) Only two people sit between M and Q.        (5) R and N face opposite directions .</a:t>
            </a:r>
            <a:endParaRPr b="1"/>
          </a:p>
          <a:p>
            <a:pPr indent="0" lvl="0" marL="0" rtl="0" algn="just">
              <a:lnSpc>
                <a:spcPct val="120000"/>
              </a:lnSpc>
              <a:spcBef>
                <a:spcPts val="1000"/>
              </a:spcBef>
              <a:spcAft>
                <a:spcPts val="0"/>
              </a:spcAft>
              <a:buSzPct val="100000"/>
              <a:buNone/>
            </a:pPr>
            <a:r>
              <a:rPr b="1" lang="en-US"/>
              <a:t>24.Who sits third to the left of O? </a:t>
            </a:r>
            <a:endParaRPr b="1"/>
          </a:p>
          <a:p>
            <a:pPr indent="0" lvl="0" marL="0" rtl="0" algn="just">
              <a:lnSpc>
                <a:spcPct val="120000"/>
              </a:lnSpc>
              <a:spcBef>
                <a:spcPts val="1000"/>
              </a:spcBef>
              <a:spcAft>
                <a:spcPts val="0"/>
              </a:spcAft>
              <a:buSzPct val="100000"/>
              <a:buNone/>
            </a:pPr>
            <a:r>
              <a:rPr b="1" lang="en-US"/>
              <a:t>(1) R (2) M (3) P (4) N  (5) S  </a:t>
            </a:r>
            <a:endParaRPr b="1"/>
          </a:p>
          <a:p>
            <a:pPr indent="0" lvl="0" marL="0" rtl="0" algn="just">
              <a:lnSpc>
                <a:spcPct val="120000"/>
              </a:lnSpc>
              <a:spcBef>
                <a:spcPts val="1000"/>
              </a:spcBef>
              <a:spcAft>
                <a:spcPts val="0"/>
              </a:spcAft>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2" name="Google Shape;302;p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just">
              <a:lnSpc>
                <a:spcPct val="120000"/>
              </a:lnSpc>
              <a:spcBef>
                <a:spcPts val="0"/>
              </a:spcBef>
              <a:spcAft>
                <a:spcPts val="0"/>
              </a:spcAft>
              <a:buSzPts val="2000"/>
              <a:buNone/>
            </a:pPr>
            <a:r>
              <a:rPr b="1" lang="en-US"/>
              <a:t>25-26)Each of the six persons P, Q. R, S, T and U has a different height. P is taller than only three persons .S is taller than T but shorter than U. U is shorter than P. Q is not the tallest. The second shortest pesron is 2 feet tall. The third tallest person is 5 feet tall. </a:t>
            </a:r>
            <a:endParaRPr b="1"/>
          </a:p>
          <a:p>
            <a:pPr indent="0" lvl="0" marL="0" rtl="0" algn="just">
              <a:lnSpc>
                <a:spcPct val="120000"/>
              </a:lnSpc>
              <a:spcBef>
                <a:spcPts val="1000"/>
              </a:spcBef>
              <a:spcAft>
                <a:spcPts val="0"/>
              </a:spcAft>
              <a:buSzPts val="2000"/>
              <a:buNone/>
            </a:pPr>
            <a:r>
              <a:rPr b="1" lang="en-US"/>
              <a:t>25. Which of the following may be the possible height of  U ?  (1) 7 Feet (2) 2 'Feet (3) 5 Feet (4) 3 Feet (5) 1 Feet </a:t>
            </a:r>
            <a:endParaRPr b="1"/>
          </a:p>
          <a:p>
            <a:pPr indent="0" lvl="0" marL="0" rtl="0" algn="just">
              <a:lnSpc>
                <a:spcPct val="120000"/>
              </a:lnSpc>
              <a:spcBef>
                <a:spcPts val="1000"/>
              </a:spcBef>
              <a:spcAft>
                <a:spcPts val="0"/>
              </a:spcAft>
              <a:buSzPts val="2000"/>
              <a:buNone/>
            </a:pPr>
            <a:r>
              <a:rPr b="1" lang="en-US"/>
              <a:t>26. The tallest person is 11 feet taller than S. Which of the following may be the possible height of Q </a:t>
            </a:r>
            <a:endParaRPr b="1"/>
          </a:p>
          <a:p>
            <a:pPr indent="0" lvl="0" marL="0" rtl="0" algn="just">
              <a:lnSpc>
                <a:spcPct val="120000"/>
              </a:lnSpc>
              <a:spcBef>
                <a:spcPts val="1000"/>
              </a:spcBef>
              <a:spcAft>
                <a:spcPts val="0"/>
              </a:spcAft>
              <a:buSzPts val="2000"/>
              <a:buNone/>
            </a:pPr>
            <a:r>
              <a:rPr b="1" lang="en-US"/>
              <a:t> (1) 4 Feet (2) 9 Feet (3) 13 Feet (4) 16 Feet (5) 17 Feet</a:t>
            </a:r>
            <a:endParaRPr/>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8" name="Google Shape;308;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just">
              <a:lnSpc>
                <a:spcPct val="120000"/>
              </a:lnSpc>
              <a:spcBef>
                <a:spcPts val="0"/>
              </a:spcBef>
              <a:spcAft>
                <a:spcPts val="0"/>
              </a:spcAft>
              <a:buSzPts val="2000"/>
              <a:buNone/>
            </a:pPr>
            <a:r>
              <a:rPr b="1" lang="en-US"/>
              <a:t>PUZZLES</a:t>
            </a:r>
            <a:endParaRPr b="1"/>
          </a:p>
          <a:p>
            <a:pPr indent="0" lvl="0" marL="0" rtl="0" algn="just">
              <a:lnSpc>
                <a:spcPct val="120000"/>
              </a:lnSpc>
              <a:spcBef>
                <a:spcPts val="1000"/>
              </a:spcBef>
              <a:spcAft>
                <a:spcPts val="0"/>
              </a:spcAft>
              <a:buSzPts val="2000"/>
              <a:buNone/>
            </a:pPr>
            <a:r>
              <a:rPr b="1" lang="en-US"/>
              <a:t>1-5) seven subjects, viz., Maths , Zoology, Botany, Chemistry, Physics, English and Statistics is taught on one day in a week starting from Monday and ending on Sunday. Chemistry is taught on Thursday. English is taught the day immediately next to the day when Zoology is taught. English is neither taught on Tuesday nor Saturday. Only one lecture is held between Chemistry and Botany. Two lectures are scheduled between Maths and Zoology. Statistics is neither taught on Monday nor Sunday.</a:t>
            </a:r>
            <a:endParaRPr b="1"/>
          </a:p>
          <a:p>
            <a:pPr indent="0" lvl="0" marL="0" rtl="0" algn="just">
              <a:lnSpc>
                <a:spcPct val="120000"/>
              </a:lnSpc>
              <a:spcBef>
                <a:spcPts val="1000"/>
              </a:spcBef>
              <a:spcAft>
                <a:spcPts val="0"/>
              </a:spcAft>
              <a:buSzPts val="2000"/>
              <a:buNone/>
            </a:pPr>
            <a:r>
              <a:rPr b="1" lang="en-US"/>
              <a:t> 1. On which of the following days is Physics taught ‘? </a:t>
            </a:r>
            <a:endParaRPr b="1"/>
          </a:p>
          <a:p>
            <a:pPr indent="0" lvl="0" marL="0" rtl="0" algn="just">
              <a:lnSpc>
                <a:spcPct val="120000"/>
              </a:lnSpc>
              <a:spcBef>
                <a:spcPts val="1000"/>
              </a:spcBef>
              <a:spcAft>
                <a:spcPts val="0"/>
              </a:spcAft>
              <a:buSzPts val="2000"/>
              <a:buNone/>
            </a:pPr>
            <a:r>
              <a:rPr b="1" lang="en-US"/>
              <a:t>(1) Monday (2) tuesday (3) Wednesday (4) Thursday  (5) Friday </a:t>
            </a:r>
            <a:endParaRPr b="1"/>
          </a:p>
          <a:p>
            <a:pPr indent="0" lvl="0" marL="0" rtl="0" algn="just">
              <a:lnSpc>
                <a:spcPct val="120000"/>
              </a:lnSpc>
              <a:spcBef>
                <a:spcPts val="1000"/>
              </a:spcBef>
              <a:spcAft>
                <a:spcPts val="0"/>
              </a:spcAft>
              <a:buSzPts val="2000"/>
              <a:buNone/>
            </a:pPr>
            <a:r>
              <a:rPr b="1" lang="en-US"/>
              <a:t>2.How many subjects are taught between Botany and Zoology ? </a:t>
            </a:r>
            <a:endParaRPr b="1"/>
          </a:p>
          <a:p>
            <a:pPr indent="0" lvl="0" marL="0" rtl="0" algn="just">
              <a:lnSpc>
                <a:spcPct val="120000"/>
              </a:lnSpc>
              <a:spcBef>
                <a:spcPts val="1000"/>
              </a:spcBef>
              <a:spcAft>
                <a:spcPts val="0"/>
              </a:spcAft>
              <a:buSzPts val="2000"/>
              <a:buNone/>
            </a:pPr>
            <a:r>
              <a:rPr b="1" lang="en-US"/>
              <a:t>(1) None (2) One (3) Two (4) Three (5) Four </a:t>
            </a:r>
            <a:endParaRPr b="1"/>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4" name="Google Shape;314;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just">
              <a:lnSpc>
                <a:spcPct val="120000"/>
              </a:lnSpc>
              <a:spcBef>
                <a:spcPts val="0"/>
              </a:spcBef>
              <a:spcAft>
                <a:spcPts val="0"/>
              </a:spcAft>
              <a:buSzPts val="2000"/>
              <a:buNone/>
            </a:pPr>
            <a:r>
              <a:rPr b="1" lang="en-US"/>
              <a:t>3. Which of the following subjects is taught on Saturday ? </a:t>
            </a:r>
            <a:endParaRPr b="1"/>
          </a:p>
          <a:p>
            <a:pPr indent="0" lvl="0" marL="0" rtl="0" algn="just">
              <a:lnSpc>
                <a:spcPct val="120000"/>
              </a:lnSpc>
              <a:spcBef>
                <a:spcPts val="1000"/>
              </a:spcBef>
              <a:spcAft>
                <a:spcPts val="0"/>
              </a:spcAft>
              <a:buSzPts val="2000"/>
              <a:buNone/>
            </a:pPr>
            <a:r>
              <a:rPr b="1" lang="en-US"/>
              <a:t>(l) Botany (2) Statistic  (3) Zoology (4) Maths (5) Physics </a:t>
            </a:r>
            <a:endParaRPr b="1"/>
          </a:p>
          <a:p>
            <a:pPr indent="0" lvl="0" marL="0" rtl="0" algn="just">
              <a:lnSpc>
                <a:spcPct val="120000"/>
              </a:lnSpc>
              <a:spcBef>
                <a:spcPts val="1000"/>
              </a:spcBef>
              <a:spcAft>
                <a:spcPts val="0"/>
              </a:spcAft>
              <a:buSzPts val="2000"/>
              <a:buNone/>
            </a:pPr>
            <a:r>
              <a:rPr b="1" lang="en-US"/>
              <a:t>4. On which of the following days is statistics taught ? </a:t>
            </a:r>
            <a:endParaRPr b="1"/>
          </a:p>
          <a:p>
            <a:pPr indent="0" lvl="0" marL="0" rtl="0" algn="just">
              <a:lnSpc>
                <a:spcPct val="120000"/>
              </a:lnSpc>
              <a:spcBef>
                <a:spcPts val="1000"/>
              </a:spcBef>
              <a:spcAft>
                <a:spcPts val="0"/>
              </a:spcAft>
              <a:buSzPts val="2000"/>
              <a:buNone/>
            </a:pPr>
            <a:r>
              <a:rPr b="1" lang="en-US"/>
              <a:t>(1) Tuesday (2) Wednesday (3) Thursday (4) Friday (5) Cannot be determined </a:t>
            </a:r>
            <a:endParaRPr b="1"/>
          </a:p>
          <a:p>
            <a:pPr indent="0" lvl="0" marL="0" rtl="0" algn="just">
              <a:lnSpc>
                <a:spcPct val="120000"/>
              </a:lnSpc>
              <a:spcBef>
                <a:spcPts val="1000"/>
              </a:spcBef>
              <a:spcAft>
                <a:spcPts val="0"/>
              </a:spcAft>
              <a:buSzPts val="2000"/>
              <a:buNone/>
            </a:pPr>
            <a:r>
              <a:rPr b="1" lang="en-US"/>
              <a:t>5. If Statistics is related to Zoology and Physics is related to Botany in a certain way, then to which of the following would Chemistry be related to, following the same pattern ? </a:t>
            </a:r>
            <a:endParaRPr b="1"/>
          </a:p>
          <a:p>
            <a:pPr indent="0" lvl="0" marL="0" rtl="0" algn="just">
              <a:lnSpc>
                <a:spcPct val="120000"/>
              </a:lnSpc>
              <a:spcBef>
                <a:spcPts val="1000"/>
              </a:spcBef>
              <a:spcAft>
                <a:spcPts val="0"/>
              </a:spcAft>
              <a:buSzPts val="2000"/>
              <a:buNone/>
            </a:pPr>
            <a:r>
              <a:rPr b="1" lang="en-US"/>
              <a:t>(1) Maths (2) Statistics (3) Physics (4) English (5) Cannot be determined</a:t>
            </a:r>
            <a:endParaRPr/>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0" name="Google Shape;320;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just">
              <a:lnSpc>
                <a:spcPct val="120000"/>
              </a:lnSpc>
              <a:spcBef>
                <a:spcPts val="0"/>
              </a:spcBef>
              <a:spcAft>
                <a:spcPts val="0"/>
              </a:spcAft>
              <a:buSzPts val="2000"/>
              <a:buNone/>
            </a:pPr>
            <a:r>
              <a:rPr b="1" lang="en-US"/>
              <a:t>6-10)Seven representatives of a company --Samir, Nita, Richa, Shweta, Gifty, Paul and Mohit -travelled to three different countries i.e. South Africa, Australia and France. Each of them travelled on different days of the week (no two persons travelled on the same day), starting on Monday and ending on Sunday. Minimum two people travelled to each country and South Africa is the only country to which three people travelled. </a:t>
            </a:r>
            <a:endParaRPr b="1"/>
          </a:p>
          <a:p>
            <a:pPr indent="0" lvl="0" marL="0" rtl="0" algn="just">
              <a:lnSpc>
                <a:spcPct val="120000"/>
              </a:lnSpc>
              <a:spcBef>
                <a:spcPts val="1000"/>
              </a:spcBef>
              <a:spcAft>
                <a:spcPts val="0"/>
              </a:spcAft>
              <a:buSzPts val="2000"/>
              <a:buNone/>
            </a:pPr>
            <a:r>
              <a:rPr b="1" lang="en-US"/>
              <a:t>Samir travelled to South Africa on Monday. Paul travelled to Australia but neither on Tuesday nor on Saturday. Mohit travelled on Sunday but not to France. The one who travelled to Australia travelled on Tuesday and the one who travelled to France travelled on Saturday. Gifty travelled on Wednesday. Richa travelled to South Africa but not on Thursday. Nita did not travel to France</a:t>
            </a:r>
            <a:endParaRPr/>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6" name="Google Shape;326;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fontScale="92500"/>
          </a:bodyPr>
          <a:lstStyle/>
          <a:p>
            <a:pPr indent="0" lvl="0" marL="0" rtl="0" algn="just">
              <a:lnSpc>
                <a:spcPct val="120000"/>
              </a:lnSpc>
              <a:spcBef>
                <a:spcPts val="0"/>
              </a:spcBef>
              <a:spcAft>
                <a:spcPts val="0"/>
              </a:spcAft>
              <a:buSzPct val="100000"/>
              <a:buNone/>
            </a:pPr>
            <a:r>
              <a:rPr b="1" lang="en-US"/>
              <a:t>6. If everyone’s trip is postponed by one day, who will be travelling  on Wednesday? </a:t>
            </a:r>
            <a:endParaRPr b="1"/>
          </a:p>
          <a:p>
            <a:pPr indent="0" lvl="0" marL="0" rtl="0" algn="just">
              <a:lnSpc>
                <a:spcPct val="120000"/>
              </a:lnSpc>
              <a:spcBef>
                <a:spcPts val="1000"/>
              </a:spcBef>
              <a:spcAft>
                <a:spcPts val="0"/>
              </a:spcAft>
              <a:buSzPct val="100000"/>
              <a:buNone/>
            </a:pPr>
            <a:r>
              <a:rPr b="1" lang="en-US"/>
              <a:t>1) Paul (2) Richa (3) Nita (4) Glfty  (5) None of these</a:t>
            </a:r>
            <a:endParaRPr b="1"/>
          </a:p>
          <a:p>
            <a:pPr indent="0" lvl="0" marL="0" rtl="0" algn="just">
              <a:lnSpc>
                <a:spcPct val="120000"/>
              </a:lnSpc>
              <a:spcBef>
                <a:spcPts val="1000"/>
              </a:spcBef>
              <a:spcAft>
                <a:spcPts val="0"/>
              </a:spcAft>
              <a:buSzPct val="100000"/>
              <a:buNone/>
            </a:pPr>
            <a:r>
              <a:rPr b="1" lang="en-US"/>
              <a:t>7.Who amongst the seven representatives travelled on Saturday? </a:t>
            </a:r>
            <a:endParaRPr b="1"/>
          </a:p>
          <a:p>
            <a:pPr indent="0" lvl="0" marL="0" rtl="0" algn="just">
              <a:lnSpc>
                <a:spcPct val="120000"/>
              </a:lnSpc>
              <a:spcBef>
                <a:spcPts val="1000"/>
              </a:spcBef>
              <a:spcAft>
                <a:spcPts val="0"/>
              </a:spcAft>
              <a:buSzPct val="100000"/>
              <a:buNone/>
            </a:pPr>
            <a:r>
              <a:rPr b="1" lang="en-US"/>
              <a:t>(1) Shweta (2) Nita (3) Richa  (4) Cannot be determined (5) None of these </a:t>
            </a:r>
            <a:endParaRPr b="1"/>
          </a:p>
          <a:p>
            <a:pPr indent="0" lvl="0" marL="0" rtl="0" algn="just">
              <a:lnSpc>
                <a:spcPct val="120000"/>
              </a:lnSpc>
              <a:spcBef>
                <a:spcPts val="1000"/>
              </a:spcBef>
              <a:spcAft>
                <a:spcPts val="0"/>
              </a:spcAft>
              <a:buSzPct val="100000"/>
              <a:buNone/>
            </a:pPr>
            <a:r>
              <a:rPr b="1" lang="en-US"/>
              <a:t>8.Which one of the following combinations is true according to the given information ? </a:t>
            </a:r>
            <a:endParaRPr b="1"/>
          </a:p>
          <a:p>
            <a:pPr indent="0" lvl="0" marL="0" rtl="0" algn="just">
              <a:lnSpc>
                <a:spcPct val="120000"/>
              </a:lnSpc>
              <a:spcBef>
                <a:spcPts val="1000"/>
              </a:spcBef>
              <a:spcAft>
                <a:spcPts val="0"/>
              </a:spcAft>
              <a:buSzPct val="100000"/>
              <a:buNone/>
            </a:pPr>
            <a:r>
              <a:rPr b="1" lang="en-US"/>
              <a:t>(1) Paul-Thursday-SouthAfrica (2) Shweta Wednesday France (3) Mohit Monday South Africa (4) Richa Friday Australia: (5) None is true </a:t>
            </a:r>
            <a:endParaRPr b="1"/>
          </a:p>
          <a:p>
            <a:pPr indent="0" lvl="0" marL="0" rtl="0" algn="just">
              <a:lnSpc>
                <a:spcPct val="120000"/>
              </a:lnSpc>
              <a:spcBef>
                <a:spcPts val="1000"/>
              </a:spcBef>
              <a:spcAft>
                <a:spcPts val="0"/>
              </a:spcAft>
              <a:buSzPct val="100000"/>
              <a:buNone/>
            </a:pPr>
            <a:r>
              <a:rPr b="1" lang="en-US"/>
              <a:t>9. To which country and on which day did Nita travel ? </a:t>
            </a:r>
            <a:endParaRPr b="1"/>
          </a:p>
          <a:p>
            <a:pPr indent="0" lvl="0" marL="0" rtl="0" algn="just">
              <a:lnSpc>
                <a:spcPct val="120000"/>
              </a:lnSpc>
              <a:spcBef>
                <a:spcPts val="1000"/>
              </a:spcBef>
              <a:spcAft>
                <a:spcPts val="0"/>
              </a:spcAft>
              <a:buSzPct val="100000"/>
              <a:buNone/>
            </a:pPr>
            <a:r>
              <a:rPr b="1" lang="en-US"/>
              <a:t>(1) Wednesday. South Africa (2) Friday. Australia (3) Thursday, Australia (4) Tuesday Australia (5) None of these</a:t>
            </a:r>
            <a:endParaRPr b="1"/>
          </a:p>
          <a:p>
            <a:pPr indent="0" lvl="0" marL="0" rtl="0" algn="just">
              <a:lnSpc>
                <a:spcPct val="120000"/>
              </a:lnSpc>
              <a:spcBef>
                <a:spcPts val="1000"/>
              </a:spcBef>
              <a:spcAft>
                <a:spcPts val="0"/>
              </a:spcAft>
              <a:buSzPct val="100000"/>
              <a:buNone/>
            </a:pPr>
            <a:r>
              <a:rPr b="1" lang="en-US"/>
              <a:t>10.who was the last one to travel? </a:t>
            </a:r>
            <a:endParaRPr b="1"/>
          </a:p>
          <a:p>
            <a:pPr indent="0" lvl="0" marL="0" rtl="0" algn="just">
              <a:lnSpc>
                <a:spcPct val="120000"/>
              </a:lnSpc>
              <a:spcBef>
                <a:spcPts val="1000"/>
              </a:spcBef>
              <a:spcAft>
                <a:spcPts val="0"/>
              </a:spcAft>
              <a:buSzPct val="100000"/>
              <a:buNone/>
            </a:pPr>
            <a:r>
              <a:rPr b="1" lang="en-US"/>
              <a:t>(1) Samir (2) Richa (3) Mohit (4) Shweta (5) None of these </a:t>
            </a:r>
            <a:endParaRPr b="1"/>
          </a:p>
          <a:p>
            <a:pPr indent="-467994" lvl="0" marL="467994" rtl="0" algn="just">
              <a:lnSpc>
                <a:spcPct val="120000"/>
              </a:lnSpc>
              <a:spcBef>
                <a:spcPts val="1000"/>
              </a:spcBef>
              <a:spcAft>
                <a:spcPts val="0"/>
              </a:spcAft>
              <a:buSzPct val="100000"/>
              <a:buNone/>
            </a:pPr>
            <a:r>
              <a:t/>
            </a:r>
            <a:endParaRPr/>
          </a:p>
          <a:p>
            <a:pPr indent="0" lvl="0" marL="0" rtl="0" algn="l">
              <a:lnSpc>
                <a:spcPct val="100000"/>
              </a:lnSpc>
              <a:spcBef>
                <a:spcPts val="1700"/>
              </a:spcBef>
              <a:spcAft>
                <a:spcPts val="0"/>
              </a:spcAft>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2" name="Google Shape;332;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467994" lvl="0" marL="467994" rtl="0" algn="just">
              <a:lnSpc>
                <a:spcPct val="120000"/>
              </a:lnSpc>
              <a:spcBef>
                <a:spcPts val="0"/>
              </a:spcBef>
              <a:spcAft>
                <a:spcPts val="0"/>
              </a:spcAft>
              <a:buSzPts val="2000"/>
              <a:buNone/>
            </a:pPr>
            <a:r>
              <a:rPr lang="en-US"/>
              <a:t>11-15) A group of seven friends: A. B. C. D, E, F and G work as Economist. Agriculture Officer, IT Officer. Terminal Operator, Clerk, Forex Officer and Research Analyst. for Banks L. M, N. P, Q. R and S but not necessarily in the same order. C works for Bank N and is neither a Research Analyst nor a Clerk. E is an IT Officer and works for Bank R. A works as forex officer and does not work for Bank L or Q. The one who is an Agriculture Officer works for Bank M. The one who works for Bank L works as a Terminal Operator. F works for Bank Q. G works for Bank P as a Research Analyst. D is not an Agriculture officer.</a:t>
            </a:r>
            <a:endParaRPr/>
          </a:p>
          <a:p>
            <a:pPr indent="-467994" lvl="0" marL="467994" rtl="0" algn="just">
              <a:lnSpc>
                <a:spcPct val="120000"/>
              </a:lnSpc>
              <a:spcBef>
                <a:spcPts val="1000"/>
              </a:spcBef>
              <a:spcAft>
                <a:spcPts val="0"/>
              </a:spcAft>
              <a:buSzPts val="2000"/>
              <a:buNone/>
            </a:pPr>
            <a:r>
              <a:t/>
            </a:r>
            <a:endParaRPr/>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8" name="Google Shape;338;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10000"/>
          </a:bodyPr>
          <a:lstStyle/>
          <a:p>
            <a:pPr indent="-467994" lvl="0" marL="467994" rtl="0" algn="just">
              <a:lnSpc>
                <a:spcPct val="120000"/>
              </a:lnSpc>
              <a:spcBef>
                <a:spcPts val="0"/>
              </a:spcBef>
              <a:spcAft>
                <a:spcPts val="0"/>
              </a:spcAft>
              <a:buSzPts val="2000"/>
              <a:buNone/>
            </a:pPr>
            <a:r>
              <a:rPr b="1" lang="en-US"/>
              <a:t>11. Who amongst the following works as an Agriculture officer? </a:t>
            </a:r>
            <a:endParaRPr b="1"/>
          </a:p>
          <a:p>
            <a:pPr indent="-467994" lvl="0" marL="467994" rtl="0" algn="just">
              <a:lnSpc>
                <a:spcPct val="120000"/>
              </a:lnSpc>
              <a:spcBef>
                <a:spcPts val="1000"/>
              </a:spcBef>
              <a:spcAft>
                <a:spcPts val="0"/>
              </a:spcAft>
              <a:buSzPts val="2000"/>
              <a:buNone/>
            </a:pPr>
            <a:r>
              <a:rPr b="1" lang="en-US"/>
              <a:t>(1) C (2) B (3) F (4) D (5) None of these</a:t>
            </a:r>
            <a:endParaRPr b="1"/>
          </a:p>
          <a:p>
            <a:pPr indent="-467994" lvl="0" marL="467994" rtl="0" algn="just">
              <a:lnSpc>
                <a:spcPct val="120000"/>
              </a:lnSpc>
              <a:spcBef>
                <a:spcPts val="1000"/>
              </a:spcBef>
              <a:spcAft>
                <a:spcPts val="0"/>
              </a:spcAft>
              <a:buSzPts val="2000"/>
              <a:buNone/>
            </a:pPr>
            <a:r>
              <a:rPr b="1" lang="en-US"/>
              <a:t> 12. What is the profession of C ? </a:t>
            </a:r>
            <a:endParaRPr b="1"/>
          </a:p>
          <a:p>
            <a:pPr indent="-467994" lvl="0" marL="467994" rtl="0" algn="just">
              <a:lnSpc>
                <a:spcPct val="120000"/>
              </a:lnSpc>
              <a:spcBef>
                <a:spcPts val="1000"/>
              </a:spcBef>
              <a:spcAft>
                <a:spcPts val="0"/>
              </a:spcAft>
              <a:buSzPts val="2000"/>
              <a:buNone/>
            </a:pPr>
            <a:r>
              <a:rPr b="1" lang="en-US"/>
              <a:t>(1) Terminal Operator (2) Agriculture Officer (3) Economist. (4) Cannot be determined (5) None of these </a:t>
            </a:r>
            <a:endParaRPr b="1"/>
          </a:p>
          <a:p>
            <a:pPr indent="-467994" lvl="0" marL="467994" rtl="0" algn="just">
              <a:lnSpc>
                <a:spcPct val="120000"/>
              </a:lnSpc>
              <a:spcBef>
                <a:spcPts val="1000"/>
              </a:spcBef>
              <a:spcAft>
                <a:spcPts val="0"/>
              </a:spcAft>
              <a:buSzPts val="2000"/>
              <a:buNone/>
            </a:pPr>
            <a:r>
              <a:rPr b="1" lang="en-US"/>
              <a:t>13. For which bank does B work? </a:t>
            </a:r>
            <a:endParaRPr b="1"/>
          </a:p>
          <a:p>
            <a:pPr indent="-467994" lvl="0" marL="467994" rtl="0" algn="just">
              <a:lnSpc>
                <a:spcPct val="120000"/>
              </a:lnSpc>
              <a:spcBef>
                <a:spcPts val="1000"/>
              </a:spcBef>
              <a:spcAft>
                <a:spcPts val="0"/>
              </a:spcAft>
              <a:buSzPts val="2000"/>
              <a:buNone/>
            </a:pPr>
            <a:r>
              <a:rPr b="1" lang="en-US"/>
              <a:t>(1) M (2) S (3) L (4) Either M or S (5) None of these </a:t>
            </a:r>
            <a:endParaRPr b="1"/>
          </a:p>
          <a:p>
            <a:pPr indent="-467994" lvl="0" marL="467994" rtl="0" algn="just">
              <a:lnSpc>
                <a:spcPct val="120000"/>
              </a:lnSpc>
              <a:spcBef>
                <a:spcPts val="1000"/>
              </a:spcBef>
              <a:spcAft>
                <a:spcPts val="0"/>
              </a:spcAft>
              <a:buSzPts val="2000"/>
              <a:buNone/>
            </a:pPr>
            <a:r>
              <a:rPr b="1" lang="en-US"/>
              <a:t>14. What is the profession of the person who works for Bank S ? </a:t>
            </a:r>
            <a:endParaRPr b="1"/>
          </a:p>
          <a:p>
            <a:pPr indent="-467994" lvl="0" marL="467994" rtl="0" algn="just">
              <a:lnSpc>
                <a:spcPct val="120000"/>
              </a:lnSpc>
              <a:spcBef>
                <a:spcPts val="1000"/>
              </a:spcBef>
              <a:spcAft>
                <a:spcPts val="0"/>
              </a:spcAft>
              <a:buSzPts val="2000"/>
              <a:buNone/>
            </a:pPr>
            <a:r>
              <a:rPr b="1" lang="en-US"/>
              <a:t>(1) Clerk  (2) Agriculture Officer (3) Terminal Opegator (4) Forex Officer (5) None of these </a:t>
            </a:r>
            <a:endParaRPr b="1"/>
          </a:p>
          <a:p>
            <a:pPr indent="-467994" lvl="0" marL="467994" rtl="0" algn="just">
              <a:lnSpc>
                <a:spcPct val="120000"/>
              </a:lnSpc>
              <a:spcBef>
                <a:spcPts val="1000"/>
              </a:spcBef>
              <a:spcAft>
                <a:spcPts val="0"/>
              </a:spcAft>
              <a:buSzPts val="2000"/>
              <a:buNone/>
            </a:pPr>
            <a:r>
              <a:rPr b="1" lang="en-US"/>
              <a:t>15. Which of the following combinations of person, profession and bank is correct? </a:t>
            </a:r>
            <a:endParaRPr b="1"/>
          </a:p>
          <a:p>
            <a:pPr indent="-467994" lvl="0" marL="467994" rtl="0" algn="just">
              <a:lnSpc>
                <a:spcPct val="120000"/>
              </a:lnSpc>
              <a:spcBef>
                <a:spcPts val="1000"/>
              </a:spcBef>
              <a:spcAft>
                <a:spcPts val="0"/>
              </a:spcAft>
              <a:buSzPts val="2000"/>
              <a:buNone/>
            </a:pPr>
            <a:r>
              <a:rPr b="1" lang="en-US"/>
              <a:t>(1) A Forex Officer M (2) D Clerk L  (3) F-Agriculture Officer-Q (4) B-Agriculture Ofticer-S (5) None of these</a:t>
            </a:r>
            <a:endParaRPr/>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44" name="Google Shape;344;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467994" lvl="0" marL="467994" rtl="0" algn="just">
              <a:lnSpc>
                <a:spcPct val="120000"/>
              </a:lnSpc>
              <a:spcBef>
                <a:spcPts val="0"/>
              </a:spcBef>
              <a:spcAft>
                <a:spcPts val="0"/>
              </a:spcAft>
              <a:buSzPts val="2000"/>
              <a:buNone/>
            </a:pPr>
            <a:r>
              <a:rPr b="1" lang="en-US"/>
              <a:t>Study the following information to answer the given questions : </a:t>
            </a:r>
            <a:endParaRPr b="1"/>
          </a:p>
          <a:p>
            <a:pPr indent="-467994" lvl="0" marL="467994" rtl="0" algn="just">
              <a:lnSpc>
                <a:spcPct val="120000"/>
              </a:lnSpc>
              <a:spcBef>
                <a:spcPts val="1000"/>
              </a:spcBef>
              <a:spcAft>
                <a:spcPts val="0"/>
              </a:spcAft>
              <a:buSzPts val="2000"/>
              <a:buNone/>
            </a:pPr>
            <a:r>
              <a:rPr b="1" lang="en-US"/>
              <a:t>	A building has seven floors numbered one to seven, in such a way that the ground floor is numbered one, the above it. number two and so on such that the topmost floor is numbered seven. One out of seven people viz. A, B. C, D. E, F and G lives on each floor. </a:t>
            </a:r>
            <a:endParaRPr b="1"/>
          </a:p>
          <a:p>
            <a:pPr indent="-467994" lvl="0" marL="467994" rtl="0" algn="just">
              <a:lnSpc>
                <a:spcPct val="120000"/>
              </a:lnSpc>
              <a:spcBef>
                <a:spcPts val="1000"/>
              </a:spcBef>
              <a:spcAft>
                <a:spcPts val="0"/>
              </a:spcAft>
              <a:buSzPts val="2000"/>
              <a:buNone/>
            </a:pPr>
            <a:r>
              <a:rPr b="1" lang="en-US"/>
              <a:t>	A lives on fourth floor. E lives on the floor immediately below F's floor. F does not live on the second or the seventh floor. C does not live on an odd numbered floor. B does not live on a floor immediately above or below C‘s floor. D does not live on the topmost floor. G does not live on any floor below E’s floor. </a:t>
            </a:r>
            <a:endParaRPr b="1"/>
          </a:p>
          <a:p>
            <a:pPr indent="-467994" lvl="0" marL="467994" rtl="0" algn="just">
              <a:lnSpc>
                <a:spcPct val="120000"/>
              </a:lnSpc>
              <a:spcBef>
                <a:spcPts val="1000"/>
              </a:spcBef>
              <a:spcAft>
                <a:spcPts val="0"/>
              </a:spcAft>
              <a:buSzPts val="2000"/>
              <a:buNone/>
            </a:pPr>
            <a:r>
              <a:rPr b="1" lang="en-US"/>
              <a:t> </a:t>
            </a:r>
            <a:endParaRPr b="1"/>
          </a:p>
          <a:p>
            <a:pPr indent="0" lvl="0" marL="0" rtl="0" algn="l">
              <a:lnSpc>
                <a:spcPct val="100000"/>
              </a:lnSpc>
              <a:spcBef>
                <a:spcPts val="17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50" name="Google Shape;350;p1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467994" lvl="0" marL="467994" rtl="0" algn="just">
              <a:lnSpc>
                <a:spcPct val="120000"/>
              </a:lnSpc>
              <a:spcBef>
                <a:spcPts val="0"/>
              </a:spcBef>
              <a:spcAft>
                <a:spcPts val="0"/>
              </a:spcAft>
              <a:buSzPts val="2000"/>
              <a:buNone/>
            </a:pPr>
            <a:r>
              <a:rPr b="1" lang="en-US"/>
              <a:t>6. Who lives on the topmost floor ? </a:t>
            </a:r>
            <a:endParaRPr b="1"/>
          </a:p>
          <a:p>
            <a:pPr indent="-467994" lvl="0" marL="467994" rtl="0" algn="just">
              <a:lnSpc>
                <a:spcPct val="120000"/>
              </a:lnSpc>
              <a:spcBef>
                <a:spcPts val="1000"/>
              </a:spcBef>
              <a:spcAft>
                <a:spcPts val="0"/>
              </a:spcAft>
              <a:buSzPts val="2000"/>
              <a:buNone/>
            </a:pPr>
            <a:r>
              <a:t/>
            </a:r>
            <a:endParaRPr b="1"/>
          </a:p>
          <a:p>
            <a:pPr indent="-467994" lvl="0" marL="467994" rtl="0" algn="just">
              <a:lnSpc>
                <a:spcPct val="120000"/>
              </a:lnSpc>
              <a:spcBef>
                <a:spcPts val="1000"/>
              </a:spcBef>
              <a:spcAft>
                <a:spcPts val="0"/>
              </a:spcAft>
              <a:buSzPts val="2000"/>
              <a:buNone/>
            </a:pPr>
            <a:r>
              <a:rPr b="1" lang="en-US"/>
              <a:t>(l) B   (2) C    (3) E (4) G   (5) Cannot be determined </a:t>
            </a:r>
            <a:endParaRPr b="1"/>
          </a:p>
          <a:p>
            <a:pPr indent="-467994" lvl="0" marL="467994" rtl="0" algn="just">
              <a:lnSpc>
                <a:spcPct val="120000"/>
              </a:lnSpc>
              <a:spcBef>
                <a:spcPts val="1000"/>
              </a:spcBef>
              <a:spcAft>
                <a:spcPts val="0"/>
              </a:spcAft>
              <a:buSzPts val="2000"/>
              <a:buNone/>
            </a:pPr>
            <a:r>
              <a:rPr b="1" lang="en-US"/>
              <a:t>7.Who lives immediately above D's floor? </a:t>
            </a:r>
            <a:endParaRPr b="1"/>
          </a:p>
          <a:p>
            <a:pPr indent="-467994" lvl="0" marL="467994" rtl="0" algn="just">
              <a:lnSpc>
                <a:spcPct val="120000"/>
              </a:lnSpc>
              <a:spcBef>
                <a:spcPts val="1000"/>
              </a:spcBef>
              <a:spcAft>
                <a:spcPts val="0"/>
              </a:spcAft>
              <a:buSzPts val="2000"/>
              <a:buNone/>
            </a:pPr>
            <a:r>
              <a:t/>
            </a:r>
            <a:endParaRPr b="1"/>
          </a:p>
          <a:p>
            <a:pPr indent="-467994" lvl="0" marL="467994" rtl="0" algn="just">
              <a:lnSpc>
                <a:spcPct val="120000"/>
              </a:lnSpc>
              <a:spcBef>
                <a:spcPts val="1000"/>
              </a:spcBef>
              <a:spcAft>
                <a:spcPts val="0"/>
              </a:spcAft>
              <a:buSzPts val="2000"/>
              <a:buNone/>
            </a:pPr>
            <a:r>
              <a:rPr b="1" lang="en-US"/>
              <a:t>(l) A (2) B   (3) C (4) F  (5) G </a:t>
            </a:r>
            <a:endParaRPr b="1"/>
          </a:p>
          <a:p>
            <a:pPr indent="-467994" lvl="0" marL="467994" rtl="0" algn="just">
              <a:lnSpc>
                <a:spcPct val="120000"/>
              </a:lnSpc>
              <a:spcBef>
                <a:spcPts val="1000"/>
              </a:spcBef>
              <a:spcAft>
                <a:spcPts val="0"/>
              </a:spcAft>
              <a:buSzPts val="2000"/>
              <a:buNone/>
            </a:pPr>
            <a:r>
              <a:rPr b="1" lang="en-US"/>
              <a:t>8.Four of the following five are alike  in a certain way and so form a group. Which is the one that does  not belong to that group ?</a:t>
            </a:r>
            <a:endParaRPr b="1"/>
          </a:p>
          <a:p>
            <a:pPr indent="-467994" lvl="0" marL="467994" rtl="0" algn="just">
              <a:lnSpc>
                <a:spcPct val="120000"/>
              </a:lnSpc>
              <a:spcBef>
                <a:spcPts val="1000"/>
              </a:spcBef>
              <a:spcAft>
                <a:spcPts val="0"/>
              </a:spcAft>
              <a:buSzPts val="2000"/>
              <a:buNone/>
            </a:pPr>
            <a:r>
              <a:t/>
            </a:r>
            <a:endParaRPr b="1"/>
          </a:p>
          <a:p>
            <a:pPr indent="-467994" lvl="0" marL="467994" rtl="0" algn="just">
              <a:lnSpc>
                <a:spcPct val="120000"/>
              </a:lnSpc>
              <a:spcBef>
                <a:spcPts val="1000"/>
              </a:spcBef>
              <a:spcAft>
                <a:spcPts val="0"/>
              </a:spcAft>
              <a:buSzPts val="2000"/>
              <a:buNone/>
            </a:pPr>
            <a:r>
              <a:rPr b="1" lang="en-US"/>
              <a:t> (1) F (2) D (3)B (4) G  (5) C</a:t>
            </a:r>
            <a:endParaRPr/>
          </a:p>
          <a:p>
            <a:pPr indent="-467994" lvl="0" marL="467994" rtl="0" algn="just">
              <a:lnSpc>
                <a:spcPct val="114000"/>
              </a:lnSpc>
              <a:spcBef>
                <a:spcPts val="7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56" name="Google Shape;356;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8DC1FFC2EE3342AD89056A4284B7A1F5</vt:lpwstr>
  </property>
  <property fmtid="{D5CDD505-2E9C-101B-9397-08002B2CF9AE}" pid="4" name="KSOProductBuildVer">
    <vt:lpwstr>1033-11.2.0.11156</vt:lpwstr>
  </property>
</Properties>
</file>