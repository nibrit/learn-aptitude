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5" roundtripDataSignature="AMtx7mgprAeU37ehCRw6JsTkLNoUrq2h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11"/>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1"/>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1"/>
          <p:cNvSpPr/>
          <p:nvPr>
            <p:ph idx="2" type="pic"/>
          </p:nvPr>
        </p:nvSpPr>
        <p:spPr>
          <a:xfrm>
            <a:off x="0" y="0"/>
            <a:ext cx="6311900" cy="6858000"/>
          </a:xfrm>
          <a:prstGeom prst="rect">
            <a:avLst/>
          </a:prstGeom>
          <a:noFill/>
          <a:ln>
            <a:noFill/>
          </a:ln>
        </p:spPr>
      </p:sp>
      <p:sp>
        <p:nvSpPr>
          <p:cNvPr id="21" name="Google Shape;21;p11"/>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1"/>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1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13"/>
          <p:cNvSpPr/>
          <p:nvPr>
            <p:ph idx="2" type="pic"/>
          </p:nvPr>
        </p:nvSpPr>
        <p:spPr>
          <a:xfrm>
            <a:off x="0" y="0"/>
            <a:ext cx="12192000" cy="6858000"/>
          </a:xfrm>
          <a:prstGeom prst="rect">
            <a:avLst/>
          </a:prstGeom>
          <a:noFill/>
          <a:ln>
            <a:noFill/>
          </a:ln>
        </p:spPr>
      </p:sp>
      <p:sp>
        <p:nvSpPr>
          <p:cNvPr id="32" name="Google Shape;32;p1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1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13"/>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13"/>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14"/>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1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1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1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14"/>
          <p:cNvSpPr/>
          <p:nvPr>
            <p:ph idx="2" type="pic"/>
          </p:nvPr>
        </p:nvSpPr>
        <p:spPr>
          <a:xfrm>
            <a:off x="0" y="0"/>
            <a:ext cx="6311900" cy="6858000"/>
          </a:xfrm>
          <a:prstGeom prst="rect">
            <a:avLst/>
          </a:prstGeom>
          <a:noFill/>
          <a:ln>
            <a:noFill/>
          </a:ln>
        </p:spPr>
      </p:sp>
      <p:sp>
        <p:nvSpPr>
          <p:cNvPr id="43" name="Google Shape;43;p14"/>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14"/>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4"/>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14"/>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1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1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1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15"/>
          <p:cNvSpPr/>
          <p:nvPr>
            <p:ph idx="2" type="pic"/>
          </p:nvPr>
        </p:nvSpPr>
        <p:spPr>
          <a:xfrm>
            <a:off x="0" y="0"/>
            <a:ext cx="12192000" cy="6858000"/>
          </a:xfrm>
          <a:prstGeom prst="rect">
            <a:avLst/>
          </a:prstGeom>
          <a:noFill/>
          <a:ln>
            <a:noFill/>
          </a:ln>
        </p:spPr>
      </p:sp>
      <p:sp>
        <p:nvSpPr>
          <p:cNvPr id="52" name="Google Shape;52;p15"/>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15"/>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5"/>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15"/>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6"/>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16"/>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1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1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17"/>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17"/>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17"/>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1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19"/>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1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2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0"/>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0"/>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0"/>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0"/>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20"/>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0"/>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2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20"/>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20"/>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20"/>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2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2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2"/>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22"/>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2"/>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22"/>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2"/>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2"/>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23"/>
          <p:cNvSpPr/>
          <p:nvPr>
            <p:ph idx="2" type="pic"/>
          </p:nvPr>
        </p:nvSpPr>
        <p:spPr>
          <a:xfrm>
            <a:off x="0" y="0"/>
            <a:ext cx="4654296" cy="5864225"/>
          </a:xfrm>
          <a:prstGeom prst="rect">
            <a:avLst/>
          </a:prstGeom>
          <a:noFill/>
          <a:ln>
            <a:noFill/>
          </a:ln>
        </p:spPr>
      </p:sp>
      <p:sp>
        <p:nvSpPr>
          <p:cNvPr id="113" name="Google Shape;113;p2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3"/>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2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2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23"/>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24"/>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24"/>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4"/>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2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2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2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24"/>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25"/>
          <p:cNvSpPr/>
          <p:nvPr>
            <p:ph idx="2" type="pic"/>
          </p:nvPr>
        </p:nvSpPr>
        <p:spPr>
          <a:xfrm>
            <a:off x="0" y="0"/>
            <a:ext cx="12192000" cy="3541486"/>
          </a:xfrm>
          <a:prstGeom prst="rect">
            <a:avLst/>
          </a:prstGeom>
          <a:noFill/>
          <a:ln>
            <a:noFill/>
          </a:ln>
        </p:spPr>
      </p:sp>
      <p:sp>
        <p:nvSpPr>
          <p:cNvPr id="129" name="Google Shape;129;p2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5"/>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25"/>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2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26"/>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26"/>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6"/>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6"/>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26"/>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2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27"/>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27"/>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7"/>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27"/>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27"/>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28"/>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8"/>
          <p:cNvSpPr/>
          <p:nvPr>
            <p:ph idx="2" type="pic"/>
          </p:nvPr>
        </p:nvSpPr>
        <p:spPr>
          <a:xfrm>
            <a:off x="15" y="0"/>
            <a:ext cx="12191985" cy="4578350"/>
          </a:xfrm>
          <a:prstGeom prst="rect">
            <a:avLst/>
          </a:prstGeom>
          <a:solidFill>
            <a:schemeClr val="lt1"/>
          </a:solidFill>
          <a:ln>
            <a:noFill/>
          </a:ln>
        </p:spPr>
      </p:sp>
      <p:sp>
        <p:nvSpPr>
          <p:cNvPr id="158" name="Google Shape;158;p28"/>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8"/>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28"/>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28"/>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2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29"/>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30"/>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0"/>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30"/>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40"/>
          <p:cNvSpPr/>
          <p:nvPr>
            <p:ph idx="2" type="pic"/>
          </p:nvPr>
        </p:nvSpPr>
        <p:spPr>
          <a:xfrm>
            <a:off x="5183188" y="987425"/>
            <a:ext cx="6172200" cy="4873625"/>
          </a:xfrm>
          <a:prstGeom prst="rect">
            <a:avLst/>
          </a:prstGeom>
          <a:noFill/>
          <a:ln>
            <a:noFill/>
          </a:ln>
        </p:spPr>
      </p:sp>
      <p:sp>
        <p:nvSpPr>
          <p:cNvPr id="236" name="Google Shape;236;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3.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10"/>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HCF and LCM</a:t>
            </a:r>
            <a:endParaRPr>
              <a:solidFill>
                <a:srgbClr val="FF0000"/>
              </a:solidFill>
            </a:endParaRPr>
          </a:p>
        </p:txBody>
      </p:sp>
      <p:sp>
        <p:nvSpPr>
          <p:cNvPr id="258" name="Google Shape;258;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1.Find the HCF of 144,180 and 192</a:t>
            </a:r>
            <a:endParaRPr sz="2400"/>
          </a:p>
          <a:p>
            <a:pPr indent="0" lvl="0" marL="0" rtl="0" algn="l">
              <a:lnSpc>
                <a:spcPct val="100000"/>
              </a:lnSpc>
              <a:spcBef>
                <a:spcPts val="1400"/>
              </a:spcBef>
              <a:spcAft>
                <a:spcPts val="0"/>
              </a:spcAft>
              <a:buSzPts val="2400"/>
              <a:buNone/>
            </a:pPr>
            <a:r>
              <a:rPr lang="en-US" sz="2400"/>
              <a:t>2.Find the LCM  of 40, 36 and 126. </a:t>
            </a:r>
            <a:endParaRPr sz="2400"/>
          </a:p>
          <a:p>
            <a:pPr indent="0" lvl="0" marL="0" rtl="0" algn="l">
              <a:lnSpc>
                <a:spcPct val="100000"/>
              </a:lnSpc>
              <a:spcBef>
                <a:spcPts val="1400"/>
              </a:spcBef>
              <a:spcAft>
                <a:spcPts val="0"/>
              </a:spcAft>
              <a:buSzPts val="2400"/>
              <a:buNone/>
            </a:pPr>
            <a:r>
              <a:rPr lang="en-US" sz="2400"/>
              <a:t>3.Find the LCM  of 84, 90 and 120.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0" name="Google Shape;270;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4.Find the HCF  3/4 ,5/6 and 6/7</a:t>
            </a:r>
            <a:endParaRPr sz="2400"/>
          </a:p>
          <a:p>
            <a:pPr indent="0" lvl="0" marL="0" rtl="0" algn="l">
              <a:lnSpc>
                <a:spcPct val="100000"/>
              </a:lnSpc>
              <a:spcBef>
                <a:spcPts val="1400"/>
              </a:spcBef>
              <a:spcAft>
                <a:spcPts val="0"/>
              </a:spcAft>
              <a:buSzPts val="2400"/>
              <a:buNone/>
            </a:pPr>
            <a:r>
              <a:rPr lang="en-US" sz="2400"/>
              <a:t>5.Find the HCF  9/10, 12/25, 18/35, 21/40</a:t>
            </a:r>
            <a:endParaRPr sz="2400"/>
          </a:p>
          <a:p>
            <a:pPr indent="0" lvl="0" marL="0" rtl="0" algn="l">
              <a:lnSpc>
                <a:spcPct val="100000"/>
              </a:lnSpc>
              <a:spcBef>
                <a:spcPts val="1400"/>
              </a:spcBef>
              <a:spcAft>
                <a:spcPts val="0"/>
              </a:spcAft>
              <a:buSzPts val="2400"/>
              <a:buNone/>
            </a:pPr>
            <a:r>
              <a:rPr lang="en-US" sz="2400"/>
              <a:t>6. Find the LCM  of  2/3 , 4/9, 5/6, 7/12</a:t>
            </a:r>
            <a:endParaRPr sz="2400"/>
          </a:p>
          <a:p>
            <a:pPr indent="0" lvl="0" marL="0" rtl="0" algn="l">
              <a:lnSpc>
                <a:spcPct val="100000"/>
              </a:lnSpc>
              <a:spcBef>
                <a:spcPts val="1400"/>
              </a:spcBef>
              <a:spcAft>
                <a:spcPts val="0"/>
              </a:spcAft>
              <a:buSzPts val="2400"/>
              <a:buNone/>
            </a:pPr>
            <a:r>
              <a:rPr lang="en-US" sz="2400"/>
              <a:t>7. Find the LCM of  4/5, 3/10, 7/15</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6" name="Google Shape;276;p4"/>
          <p:cNvSpPr txBox="1"/>
          <p:nvPr>
            <p:ph idx="1" type="body"/>
          </p:nvPr>
        </p:nvSpPr>
        <p:spPr>
          <a:xfrm>
            <a:off x="78377" y="1837509"/>
            <a:ext cx="12043954" cy="502049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8.Find the HCF of 2^4 ✘3^2 ✘ 5^3✘7,   2^3✘3^3✘5^2✘7^2 and 3✘5✘7✘11</a:t>
            </a:r>
            <a:endParaRPr sz="2800"/>
          </a:p>
          <a:p>
            <a:pPr indent="0" lvl="0" marL="0" rtl="0" algn="l">
              <a:lnSpc>
                <a:spcPct val="100000"/>
              </a:lnSpc>
              <a:spcBef>
                <a:spcPts val="1400"/>
              </a:spcBef>
              <a:spcAft>
                <a:spcPts val="0"/>
              </a:spcAft>
              <a:buSzPts val="2800"/>
              <a:buNone/>
            </a:pPr>
            <a:r>
              <a:rPr lang="en-US" sz="2800"/>
              <a:t>(a) 125 (b) 225 (c) 105 (d) 625 </a:t>
            </a:r>
            <a:endParaRPr sz="2800"/>
          </a:p>
          <a:p>
            <a:pPr indent="0" lvl="0" marL="0" rtl="0" algn="l">
              <a:lnSpc>
                <a:spcPct val="100000"/>
              </a:lnSpc>
              <a:spcBef>
                <a:spcPts val="1400"/>
              </a:spcBef>
              <a:spcAft>
                <a:spcPts val="0"/>
              </a:spcAft>
              <a:buSzPts val="2800"/>
              <a:buNone/>
            </a:pPr>
            <a:r>
              <a:rPr lang="en-US" sz="2800"/>
              <a:t>9.Find the LCM of  2^3 ✘5^1✘7^1,  2^2✘7^2✘2^2✘5^2  and 5✘2^4✘7</a:t>
            </a:r>
            <a:endParaRPr sz="2800"/>
          </a:p>
          <a:p>
            <a:pPr indent="0" lvl="0" marL="0" rtl="0" algn="l">
              <a:lnSpc>
                <a:spcPct val="100000"/>
              </a:lnSpc>
              <a:spcBef>
                <a:spcPts val="1400"/>
              </a:spcBef>
              <a:spcAft>
                <a:spcPts val="0"/>
              </a:spcAft>
              <a:buSzPts val="2800"/>
              <a:buNone/>
            </a:pPr>
            <a:r>
              <a:rPr lang="en-US" sz="2800"/>
              <a:t>(a) 19600 (b) 19800 (c) 18600  (d) 17800 </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2" name="Google Shape;282;p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10. 4 p^2  q^3 r, 8 p^3 q^2 r^2, 16 p^2 q^4 r^3 find HCF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11.HCF and LCM of two numbers are 63 and 1260 respectively. If one of the two numbers is 315, fund the other number. </a:t>
            </a:r>
            <a:endParaRPr/>
          </a:p>
          <a:p>
            <a:pPr indent="0" lvl="0" marL="0" rtl="0" algn="l">
              <a:lnSpc>
                <a:spcPct val="100000"/>
              </a:lnSpc>
              <a:spcBef>
                <a:spcPts val="1400"/>
              </a:spcBef>
              <a:spcAft>
                <a:spcPts val="0"/>
              </a:spcAft>
              <a:buSzPts val="2000"/>
              <a:buNone/>
            </a:pPr>
            <a:r>
              <a:rPr lang="en-US"/>
              <a:t>(a) 142  (b) 96 (c) 240 (d) 252  </a:t>
            </a:r>
            <a:endParaRPr/>
          </a:p>
          <a:p>
            <a:pPr indent="0" lvl="0" marL="0" rtl="0" algn="l">
              <a:lnSpc>
                <a:spcPct val="100000"/>
              </a:lnSpc>
              <a:spcBef>
                <a:spcPts val="1400"/>
              </a:spcBef>
              <a:spcAft>
                <a:spcPts val="0"/>
              </a:spcAft>
              <a:buSzPts val="2000"/>
              <a:buNone/>
            </a:pPr>
            <a:r>
              <a:rPr lang="en-US"/>
              <a:t>12.The product of two number is 3024 and their HCF is 36. Find their LCM.</a:t>
            </a:r>
            <a:endParaRPr/>
          </a:p>
          <a:p>
            <a:pPr indent="0" lvl="0" marL="0" rtl="0" algn="l">
              <a:lnSpc>
                <a:spcPct val="100000"/>
              </a:lnSpc>
              <a:spcBef>
                <a:spcPts val="1400"/>
              </a:spcBef>
              <a:spcAft>
                <a:spcPts val="0"/>
              </a:spcAft>
              <a:buSzPts val="2000"/>
              <a:buNone/>
            </a:pPr>
            <a:r>
              <a:rPr lang="en-US"/>
              <a:t>(A) 88  (b)32  c) 84 (d) 86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8" name="Google Shape;288;p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13  The LCM of two numbers is 28 times of their HCF. The sum of their LCM and HCF is 1740. If one of the numbers is 240, find the other number .</a:t>
            </a:r>
            <a:endParaRPr/>
          </a:p>
          <a:p>
            <a:pPr indent="0" lvl="0" marL="0" rtl="0" algn="l">
              <a:lnSpc>
                <a:spcPct val="100000"/>
              </a:lnSpc>
              <a:spcBef>
                <a:spcPts val="1400"/>
              </a:spcBef>
              <a:spcAft>
                <a:spcPts val="0"/>
              </a:spcAft>
              <a:buSzPts val="2000"/>
              <a:buNone/>
            </a:pPr>
            <a:r>
              <a:rPr lang="en-US"/>
              <a:t> (a) 240  (b) 620 (c) 540 (d) 420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14.The LCM of two numbers is 5 times of their HCF and sum of  LCM and HCF is 300. One of that number is 125. Find the another number? </a:t>
            </a:r>
            <a:endParaRPr/>
          </a:p>
          <a:p>
            <a:pPr indent="0" lvl="0" marL="0" rtl="0" algn="l">
              <a:lnSpc>
                <a:spcPct val="100000"/>
              </a:lnSpc>
              <a:spcBef>
                <a:spcPts val="1400"/>
              </a:spcBef>
              <a:spcAft>
                <a:spcPts val="0"/>
              </a:spcAft>
              <a:buSzPts val="2000"/>
              <a:buNone/>
            </a:pPr>
            <a:r>
              <a:rPr lang="en-US"/>
              <a:t>(A) 175 (8)150  (C) 625 (d)100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4" name="Google Shape;294;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15.If the two numbers are  in thé ratio  2: 3 and the product of their highest common factor and least common multiple in 150. then Find the sum of  the numbers. </a:t>
            </a:r>
            <a:endParaRPr/>
          </a:p>
          <a:p>
            <a:pPr indent="0" lvl="0" marL="0" rtl="0" algn="l">
              <a:lnSpc>
                <a:spcPct val="100000"/>
              </a:lnSpc>
              <a:spcBef>
                <a:spcPts val="1400"/>
              </a:spcBef>
              <a:spcAft>
                <a:spcPts val="0"/>
              </a:spcAft>
              <a:buSzPts val="2000"/>
              <a:buNone/>
            </a:pPr>
            <a:r>
              <a:rPr lang="en-US"/>
              <a:t>(A) 10 ( B) 50 (C) 20 (D) 25</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16.Three numbers are  in the ratio 1 : 2 : 3 Their highest common factor is 12. Find the numbers </a:t>
            </a:r>
            <a:endParaRPr/>
          </a:p>
          <a:p>
            <a:pPr indent="0" lvl="0" marL="0" rtl="0" algn="l">
              <a:lnSpc>
                <a:spcPct val="100000"/>
              </a:lnSpc>
              <a:spcBef>
                <a:spcPts val="1400"/>
              </a:spcBef>
              <a:spcAft>
                <a:spcPts val="0"/>
              </a:spcAft>
              <a:buSzPts val="2000"/>
              <a:buNone/>
            </a:pPr>
            <a:r>
              <a:rPr lang="en-US"/>
              <a:t> (A) 12,24,36 (B) 24,48,72  (C ) 12,24,48 (D) 48,60,72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0" name="Google Shape;300;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17.Bells of four different clock is toll together and toll respectively at the time intervals of 5 seconds, 10 seconds, 15 seconds and 12 seconds. How many times they will toll together in one hour?</a:t>
            </a:r>
            <a:endParaRPr/>
          </a:p>
          <a:p>
            <a:pPr indent="0" lvl="0" marL="0" rtl="0" algn="l">
              <a:lnSpc>
                <a:spcPct val="100000"/>
              </a:lnSpc>
              <a:spcBef>
                <a:spcPts val="1400"/>
              </a:spcBef>
              <a:spcAft>
                <a:spcPts val="0"/>
              </a:spcAft>
              <a:buSzPts val="2000"/>
              <a:buNone/>
            </a:pPr>
            <a:r>
              <a:rPr lang="en-US"/>
              <a:t> (a) 60 times (b) 61 times (c) 62 times (d) 30 times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18.There are three consecutive road crossings at which traffic lights Change after every 48 seconds, 72 seconds and 108 seconds respectively. If the lights change simultaneously  at    8:20: 00 hrs, then at what time will they  again change simultaneously? </a:t>
            </a:r>
            <a:endParaRPr/>
          </a:p>
          <a:p>
            <a:pPr indent="0" lvl="0" marL="0" rtl="0" algn="l">
              <a:lnSpc>
                <a:spcPct val="100000"/>
              </a:lnSpc>
              <a:spcBef>
                <a:spcPts val="1400"/>
              </a:spcBef>
              <a:spcAft>
                <a:spcPts val="0"/>
              </a:spcAft>
              <a:buSzPts val="2000"/>
              <a:buNone/>
            </a:pPr>
            <a:r>
              <a:rPr lang="en-US"/>
              <a:t>(a)8:27: 12 hrs (b) 9 :28:14 hrs (d) 11: 25: 12 hrs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6" name="Google Shape;306;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BC124B30BEDA467899A33BA5C305D6B4</vt:lpwstr>
  </property>
  <property fmtid="{D5CDD505-2E9C-101B-9397-08002B2CF9AE}" pid="4" name="KSOProductBuildVer">
    <vt:lpwstr>1033-11.2.0.11074</vt:lpwstr>
  </property>
</Properties>
</file>